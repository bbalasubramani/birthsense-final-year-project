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26"/>
  </p:notesMasterIdLst>
  <p:sldIdLst>
    <p:sldId id="256" r:id="rId2"/>
    <p:sldId id="299" r:id="rId3"/>
    <p:sldId id="296" r:id="rId4"/>
    <p:sldId id="297" r:id="rId5"/>
    <p:sldId id="298" r:id="rId6"/>
    <p:sldId id="301" r:id="rId7"/>
    <p:sldId id="300" r:id="rId8"/>
    <p:sldId id="314" r:id="rId9"/>
    <p:sldId id="302" r:id="rId10"/>
    <p:sldId id="315" r:id="rId11"/>
    <p:sldId id="317" r:id="rId12"/>
    <p:sldId id="305" r:id="rId13"/>
    <p:sldId id="306" r:id="rId14"/>
    <p:sldId id="318" r:id="rId15"/>
    <p:sldId id="307" r:id="rId16"/>
    <p:sldId id="295" r:id="rId17"/>
    <p:sldId id="319" r:id="rId18"/>
    <p:sldId id="323" r:id="rId19"/>
    <p:sldId id="292" r:id="rId20"/>
    <p:sldId id="309" r:id="rId21"/>
    <p:sldId id="310" r:id="rId22"/>
    <p:sldId id="311" r:id="rId23"/>
    <p:sldId id="322" r:id="rId24"/>
    <p:sldId id="313" r:id="rId25"/>
  </p:sldIdLst>
  <p:sldSz cx="12192000" cy="6858000"/>
  <p:notesSz cx="6797675" cy="9874250"/>
  <p:embeddedFontLst>
    <p:embeddedFont>
      <p:font typeface="Century Gothic" panose="020B0502020202020204" pitchFamily="34" charset="0"/>
      <p:regular r:id="rId27"/>
      <p:bold r:id="rId28"/>
      <p:italic r:id="rId29"/>
      <p:boldItalic r:id="rId30"/>
    </p:embeddedFont>
    <p:embeddedFont>
      <p:font typeface="Calibri" panose="020F0502020204030204" pitchFamily="34" charset="0"/>
      <p:regular r:id="rId31"/>
      <p:bold r:id="rId32"/>
      <p:italic r:id="rId33"/>
      <p:boldItalic r:id="rId34"/>
    </p:embeddedFont>
    <p:embeddedFont>
      <p:font typeface="Copperplate Gothic Bold" panose="020E0705020206020404" pitchFamily="34"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EA367C3A-0687-46E1-8B5D-3C4397D6F302}">
          <p14:sldIdLst>
            <p14:sldId id="256"/>
            <p14:sldId id="299"/>
            <p14:sldId id="296"/>
            <p14:sldId id="297"/>
            <p14:sldId id="298"/>
            <p14:sldId id="301"/>
            <p14:sldId id="300"/>
            <p14:sldId id="314"/>
            <p14:sldId id="302"/>
            <p14:sldId id="315"/>
            <p14:sldId id="317"/>
            <p14:sldId id="305"/>
            <p14:sldId id="306"/>
            <p14:sldId id="318"/>
            <p14:sldId id="307"/>
            <p14:sldId id="295"/>
            <p14:sldId id="319"/>
            <p14:sldId id="323"/>
            <p14:sldId id="292"/>
            <p14:sldId id="309"/>
            <p14:sldId id="310"/>
            <p14:sldId id="311"/>
            <p14:sldId id="322"/>
            <p14:sldId id="313"/>
          </p14:sldIdLst>
        </p14:section>
        <p14:section name="Untitled Section" id="{E3F84131-A147-4B0D-882C-15BC7FCD5DFE}">
          <p14:sldIdLst/>
        </p14:section>
      </p14:sectionLst>
    </p:ext>
    <p:ext uri="{EFAFB233-063F-42B5-8137-9DF3F51BA10A}">
      <p15:sldGuideLst xmlns:p15="http://schemas.microsoft.com/office/powerpoint/2012/main">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0" d="100"/>
          <a:sy n="70" d="100"/>
        </p:scale>
        <p:origin x="512"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53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9687" y="0"/>
            <a:ext cx="2946400" cy="4953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36562" y="1233487"/>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378950"/>
            <a:ext cx="2946400" cy="4953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9687" y="9378950"/>
            <a:ext cx="29464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1:notes"/>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 name="Google Shape;32;p1:notes"/>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p:cNvSpPr txBox="1"/>
          <p:nvPr/>
        </p:nvSpPr>
        <p:spPr>
          <a:xfrm>
            <a:off x="3849687" y="9378950"/>
            <a:ext cx="29464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4A0790DC-C9A9-FB86-5D17-B5F57350A2E7}"/>
            </a:ext>
          </a:extLst>
        </p:cNvPr>
        <p:cNvGrpSpPr/>
        <p:nvPr/>
      </p:nvGrpSpPr>
      <p:grpSpPr>
        <a:xfrm>
          <a:off x="0" y="0"/>
          <a:ext cx="0" cy="0"/>
          <a:chOff x="0" y="0"/>
          <a:chExt cx="0" cy="0"/>
        </a:xfrm>
      </p:grpSpPr>
      <p:sp>
        <p:nvSpPr>
          <p:cNvPr id="31" name="Google Shape;31;p1:notes">
            <a:extLst>
              <a:ext uri="{FF2B5EF4-FFF2-40B4-BE49-F238E27FC236}">
                <a16:creationId xmlns:a16="http://schemas.microsoft.com/office/drawing/2014/main" id="{4EFEA5F3-F19A-57A6-0267-099AA53DB906}"/>
              </a:ext>
            </a:extLst>
          </p:cNvPr>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 name="Google Shape;32;p1:notes">
            <a:extLst>
              <a:ext uri="{FF2B5EF4-FFF2-40B4-BE49-F238E27FC236}">
                <a16:creationId xmlns:a16="http://schemas.microsoft.com/office/drawing/2014/main" id="{E061D218-D268-14C7-DA86-4F70BA29EFA0}"/>
              </a:ext>
            </a:extLst>
          </p:cNvPr>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a:extLst>
              <a:ext uri="{FF2B5EF4-FFF2-40B4-BE49-F238E27FC236}">
                <a16:creationId xmlns:a16="http://schemas.microsoft.com/office/drawing/2014/main" id="{B6BE0595-97B0-FD38-10E9-7053DAE96770}"/>
              </a:ext>
            </a:extLst>
          </p:cNvPr>
          <p:cNvSpPr txBox="1"/>
          <p:nvPr/>
        </p:nvSpPr>
        <p:spPr>
          <a:xfrm>
            <a:off x="3849687" y="9378950"/>
            <a:ext cx="29464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008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6EDF0A7E-874E-C7F4-5AF7-6929F352DDEC}"/>
            </a:ext>
          </a:extLst>
        </p:cNvPr>
        <p:cNvGrpSpPr/>
        <p:nvPr/>
      </p:nvGrpSpPr>
      <p:grpSpPr>
        <a:xfrm>
          <a:off x="0" y="0"/>
          <a:ext cx="0" cy="0"/>
          <a:chOff x="0" y="0"/>
          <a:chExt cx="0" cy="0"/>
        </a:xfrm>
      </p:grpSpPr>
      <p:sp>
        <p:nvSpPr>
          <p:cNvPr id="31" name="Google Shape;31;p1:notes">
            <a:extLst>
              <a:ext uri="{FF2B5EF4-FFF2-40B4-BE49-F238E27FC236}">
                <a16:creationId xmlns:a16="http://schemas.microsoft.com/office/drawing/2014/main" id="{7C7D6D72-9C07-A65A-A570-A920612EB45E}"/>
              </a:ext>
            </a:extLst>
          </p:cNvPr>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 name="Google Shape;32;p1:notes">
            <a:extLst>
              <a:ext uri="{FF2B5EF4-FFF2-40B4-BE49-F238E27FC236}">
                <a16:creationId xmlns:a16="http://schemas.microsoft.com/office/drawing/2014/main" id="{D9DB945C-61A5-7FB6-C8B0-001DB14CF08C}"/>
              </a:ext>
            </a:extLst>
          </p:cNvPr>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a:extLst>
              <a:ext uri="{FF2B5EF4-FFF2-40B4-BE49-F238E27FC236}">
                <a16:creationId xmlns:a16="http://schemas.microsoft.com/office/drawing/2014/main" id="{B894C562-FC2C-2D33-D2C1-C605342C338F}"/>
              </a:ext>
            </a:extLst>
          </p:cNvPr>
          <p:cNvSpPr txBox="1"/>
          <p:nvPr/>
        </p:nvSpPr>
        <p:spPr>
          <a:xfrm>
            <a:off x="3849687" y="9378950"/>
            <a:ext cx="29464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874226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858996F5-087A-C2AD-9D18-98CE6948285F}"/>
            </a:ext>
          </a:extLst>
        </p:cNvPr>
        <p:cNvGrpSpPr/>
        <p:nvPr/>
      </p:nvGrpSpPr>
      <p:grpSpPr>
        <a:xfrm>
          <a:off x="0" y="0"/>
          <a:ext cx="0" cy="0"/>
          <a:chOff x="0" y="0"/>
          <a:chExt cx="0" cy="0"/>
        </a:xfrm>
      </p:grpSpPr>
      <p:sp>
        <p:nvSpPr>
          <p:cNvPr id="31" name="Google Shape;31;p1:notes">
            <a:extLst>
              <a:ext uri="{FF2B5EF4-FFF2-40B4-BE49-F238E27FC236}">
                <a16:creationId xmlns:a16="http://schemas.microsoft.com/office/drawing/2014/main" id="{28B58A5E-2232-FEDD-9B9C-79E4E0DE8458}"/>
              </a:ext>
            </a:extLst>
          </p:cNvPr>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 name="Google Shape;32;p1:notes">
            <a:extLst>
              <a:ext uri="{FF2B5EF4-FFF2-40B4-BE49-F238E27FC236}">
                <a16:creationId xmlns:a16="http://schemas.microsoft.com/office/drawing/2014/main" id="{3957BBAB-4BF8-EC2D-1C17-1E041C4D1860}"/>
              </a:ext>
            </a:extLst>
          </p:cNvPr>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a:extLst>
              <a:ext uri="{FF2B5EF4-FFF2-40B4-BE49-F238E27FC236}">
                <a16:creationId xmlns:a16="http://schemas.microsoft.com/office/drawing/2014/main" id="{6F7A3501-73D3-7E60-DA27-E0E3C1B9032D}"/>
              </a:ext>
            </a:extLst>
          </p:cNvPr>
          <p:cNvSpPr txBox="1"/>
          <p:nvPr/>
        </p:nvSpPr>
        <p:spPr>
          <a:xfrm>
            <a:off x="3849687" y="9378950"/>
            <a:ext cx="29464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362127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166F0188-C9D0-8CBA-9699-CF0FC8DA5B35}"/>
            </a:ext>
          </a:extLst>
        </p:cNvPr>
        <p:cNvGrpSpPr/>
        <p:nvPr/>
      </p:nvGrpSpPr>
      <p:grpSpPr>
        <a:xfrm>
          <a:off x="0" y="0"/>
          <a:ext cx="0" cy="0"/>
          <a:chOff x="0" y="0"/>
          <a:chExt cx="0" cy="0"/>
        </a:xfrm>
      </p:grpSpPr>
      <p:sp>
        <p:nvSpPr>
          <p:cNvPr id="31" name="Google Shape;31;p1:notes">
            <a:extLst>
              <a:ext uri="{FF2B5EF4-FFF2-40B4-BE49-F238E27FC236}">
                <a16:creationId xmlns:a16="http://schemas.microsoft.com/office/drawing/2014/main" id="{E493C2BC-9800-20FE-E979-594157348AE8}"/>
              </a:ext>
            </a:extLst>
          </p:cNvPr>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 name="Google Shape;32;p1:notes">
            <a:extLst>
              <a:ext uri="{FF2B5EF4-FFF2-40B4-BE49-F238E27FC236}">
                <a16:creationId xmlns:a16="http://schemas.microsoft.com/office/drawing/2014/main" id="{6C100B42-798A-E646-EA48-1CCD78058CB8}"/>
              </a:ext>
            </a:extLst>
          </p:cNvPr>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a:extLst>
              <a:ext uri="{FF2B5EF4-FFF2-40B4-BE49-F238E27FC236}">
                <a16:creationId xmlns:a16="http://schemas.microsoft.com/office/drawing/2014/main" id="{32CEED04-D6EF-4573-2C29-966D9D72F7B1}"/>
              </a:ext>
            </a:extLst>
          </p:cNvPr>
          <p:cNvSpPr txBox="1"/>
          <p:nvPr/>
        </p:nvSpPr>
        <p:spPr>
          <a:xfrm>
            <a:off x="3849687" y="9378950"/>
            <a:ext cx="29464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527296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22E91C23-FE33-CBC7-806F-DC8B52C71600}"/>
            </a:ext>
          </a:extLst>
        </p:cNvPr>
        <p:cNvGrpSpPr/>
        <p:nvPr/>
      </p:nvGrpSpPr>
      <p:grpSpPr>
        <a:xfrm>
          <a:off x="0" y="0"/>
          <a:ext cx="0" cy="0"/>
          <a:chOff x="0" y="0"/>
          <a:chExt cx="0" cy="0"/>
        </a:xfrm>
      </p:grpSpPr>
      <p:sp>
        <p:nvSpPr>
          <p:cNvPr id="31" name="Google Shape;31;p1:notes">
            <a:extLst>
              <a:ext uri="{FF2B5EF4-FFF2-40B4-BE49-F238E27FC236}">
                <a16:creationId xmlns:a16="http://schemas.microsoft.com/office/drawing/2014/main" id="{D7314FA0-106B-4DC7-534D-CED9830F733F}"/>
              </a:ext>
            </a:extLst>
          </p:cNvPr>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 name="Google Shape;32;p1:notes">
            <a:extLst>
              <a:ext uri="{FF2B5EF4-FFF2-40B4-BE49-F238E27FC236}">
                <a16:creationId xmlns:a16="http://schemas.microsoft.com/office/drawing/2014/main" id="{00C8B30E-9B19-C6E3-28A0-DD8C131E6A8A}"/>
              </a:ext>
            </a:extLst>
          </p:cNvPr>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a:extLst>
              <a:ext uri="{FF2B5EF4-FFF2-40B4-BE49-F238E27FC236}">
                <a16:creationId xmlns:a16="http://schemas.microsoft.com/office/drawing/2014/main" id="{FA4994AC-700F-BC20-D34D-7CB117649806}"/>
              </a:ext>
            </a:extLst>
          </p:cNvPr>
          <p:cNvSpPr txBox="1"/>
          <p:nvPr/>
        </p:nvSpPr>
        <p:spPr>
          <a:xfrm>
            <a:off x="3849687" y="9378950"/>
            <a:ext cx="29464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029351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E2F71CC1-6C64-EE5F-D662-FA7A54929254}"/>
            </a:ext>
          </a:extLst>
        </p:cNvPr>
        <p:cNvGrpSpPr/>
        <p:nvPr/>
      </p:nvGrpSpPr>
      <p:grpSpPr>
        <a:xfrm>
          <a:off x="0" y="0"/>
          <a:ext cx="0" cy="0"/>
          <a:chOff x="0" y="0"/>
          <a:chExt cx="0" cy="0"/>
        </a:xfrm>
      </p:grpSpPr>
      <p:sp>
        <p:nvSpPr>
          <p:cNvPr id="31" name="Google Shape;31;p1:notes">
            <a:extLst>
              <a:ext uri="{FF2B5EF4-FFF2-40B4-BE49-F238E27FC236}">
                <a16:creationId xmlns:a16="http://schemas.microsoft.com/office/drawing/2014/main" id="{94050AF3-050E-95E4-D3F7-0422B62C8EC3}"/>
              </a:ext>
            </a:extLst>
          </p:cNvPr>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 name="Google Shape;32;p1:notes">
            <a:extLst>
              <a:ext uri="{FF2B5EF4-FFF2-40B4-BE49-F238E27FC236}">
                <a16:creationId xmlns:a16="http://schemas.microsoft.com/office/drawing/2014/main" id="{6980A6F4-A087-48B7-CCE5-71DDFB53537B}"/>
              </a:ext>
            </a:extLst>
          </p:cNvPr>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a:extLst>
              <a:ext uri="{FF2B5EF4-FFF2-40B4-BE49-F238E27FC236}">
                <a16:creationId xmlns:a16="http://schemas.microsoft.com/office/drawing/2014/main" id="{2DDE4523-8BA6-2FD0-80D8-8F13648CCFBA}"/>
              </a:ext>
            </a:extLst>
          </p:cNvPr>
          <p:cNvSpPr txBox="1"/>
          <p:nvPr/>
        </p:nvSpPr>
        <p:spPr>
          <a:xfrm>
            <a:off x="3849687" y="9378950"/>
            <a:ext cx="29464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364799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2A688A16-6323-4119-41D3-61CA53CB5B32}"/>
            </a:ext>
          </a:extLst>
        </p:cNvPr>
        <p:cNvGrpSpPr/>
        <p:nvPr/>
      </p:nvGrpSpPr>
      <p:grpSpPr>
        <a:xfrm>
          <a:off x="0" y="0"/>
          <a:ext cx="0" cy="0"/>
          <a:chOff x="0" y="0"/>
          <a:chExt cx="0" cy="0"/>
        </a:xfrm>
      </p:grpSpPr>
      <p:sp>
        <p:nvSpPr>
          <p:cNvPr id="31" name="Google Shape;31;p1:notes">
            <a:extLst>
              <a:ext uri="{FF2B5EF4-FFF2-40B4-BE49-F238E27FC236}">
                <a16:creationId xmlns:a16="http://schemas.microsoft.com/office/drawing/2014/main" id="{D9F0DEFC-3D6C-5C5F-D738-F06B5ECD7092}"/>
              </a:ext>
            </a:extLst>
          </p:cNvPr>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 name="Google Shape;32;p1:notes">
            <a:extLst>
              <a:ext uri="{FF2B5EF4-FFF2-40B4-BE49-F238E27FC236}">
                <a16:creationId xmlns:a16="http://schemas.microsoft.com/office/drawing/2014/main" id="{4FD8D15B-6C3C-81BB-E54E-165C9974EA75}"/>
              </a:ext>
            </a:extLst>
          </p:cNvPr>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a:extLst>
              <a:ext uri="{FF2B5EF4-FFF2-40B4-BE49-F238E27FC236}">
                <a16:creationId xmlns:a16="http://schemas.microsoft.com/office/drawing/2014/main" id="{AFF17878-A875-CCE6-C3A8-5DD294900D49}"/>
              </a:ext>
            </a:extLst>
          </p:cNvPr>
          <p:cNvSpPr txBox="1"/>
          <p:nvPr/>
        </p:nvSpPr>
        <p:spPr>
          <a:xfrm>
            <a:off x="3849687" y="9378950"/>
            <a:ext cx="29464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973922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D2AED49E-77A8-6079-0438-1EF6ABB91F11}"/>
            </a:ext>
          </a:extLst>
        </p:cNvPr>
        <p:cNvGrpSpPr/>
        <p:nvPr/>
      </p:nvGrpSpPr>
      <p:grpSpPr>
        <a:xfrm>
          <a:off x="0" y="0"/>
          <a:ext cx="0" cy="0"/>
          <a:chOff x="0" y="0"/>
          <a:chExt cx="0" cy="0"/>
        </a:xfrm>
      </p:grpSpPr>
      <p:sp>
        <p:nvSpPr>
          <p:cNvPr id="31" name="Google Shape;31;p1:notes">
            <a:extLst>
              <a:ext uri="{FF2B5EF4-FFF2-40B4-BE49-F238E27FC236}">
                <a16:creationId xmlns:a16="http://schemas.microsoft.com/office/drawing/2014/main" id="{DC4F7729-33B3-3806-FA59-6587B48CAC02}"/>
              </a:ext>
            </a:extLst>
          </p:cNvPr>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 name="Google Shape;32;p1:notes">
            <a:extLst>
              <a:ext uri="{FF2B5EF4-FFF2-40B4-BE49-F238E27FC236}">
                <a16:creationId xmlns:a16="http://schemas.microsoft.com/office/drawing/2014/main" id="{F4036434-D3C1-54C0-3582-FA9CECE12F39}"/>
              </a:ext>
            </a:extLst>
          </p:cNvPr>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a:extLst>
              <a:ext uri="{FF2B5EF4-FFF2-40B4-BE49-F238E27FC236}">
                <a16:creationId xmlns:a16="http://schemas.microsoft.com/office/drawing/2014/main" id="{108EE28C-9B74-6EAE-2A73-881500BFDA4C}"/>
              </a:ext>
            </a:extLst>
          </p:cNvPr>
          <p:cNvSpPr txBox="1"/>
          <p:nvPr/>
        </p:nvSpPr>
        <p:spPr>
          <a:xfrm>
            <a:off x="3849687" y="9378950"/>
            <a:ext cx="29464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856385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8982EDD3-78AB-1FAE-9678-FD6335774B9E}"/>
            </a:ext>
          </a:extLst>
        </p:cNvPr>
        <p:cNvGrpSpPr/>
        <p:nvPr/>
      </p:nvGrpSpPr>
      <p:grpSpPr>
        <a:xfrm>
          <a:off x="0" y="0"/>
          <a:ext cx="0" cy="0"/>
          <a:chOff x="0" y="0"/>
          <a:chExt cx="0" cy="0"/>
        </a:xfrm>
      </p:grpSpPr>
      <p:sp>
        <p:nvSpPr>
          <p:cNvPr id="31" name="Google Shape;31;p1:notes">
            <a:extLst>
              <a:ext uri="{FF2B5EF4-FFF2-40B4-BE49-F238E27FC236}">
                <a16:creationId xmlns:a16="http://schemas.microsoft.com/office/drawing/2014/main" id="{34395C6C-92B8-C4E7-3BAF-AC900A247142}"/>
              </a:ext>
            </a:extLst>
          </p:cNvPr>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 name="Google Shape;32;p1:notes">
            <a:extLst>
              <a:ext uri="{FF2B5EF4-FFF2-40B4-BE49-F238E27FC236}">
                <a16:creationId xmlns:a16="http://schemas.microsoft.com/office/drawing/2014/main" id="{092B2D57-CFF7-9DE2-9851-1AFAB6F9B44E}"/>
              </a:ext>
            </a:extLst>
          </p:cNvPr>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a:extLst>
              <a:ext uri="{FF2B5EF4-FFF2-40B4-BE49-F238E27FC236}">
                <a16:creationId xmlns:a16="http://schemas.microsoft.com/office/drawing/2014/main" id="{50DEDFF1-F594-6C87-1F4A-E325E1940505}"/>
              </a:ext>
            </a:extLst>
          </p:cNvPr>
          <p:cNvSpPr txBox="1"/>
          <p:nvPr/>
        </p:nvSpPr>
        <p:spPr>
          <a:xfrm>
            <a:off x="3849687" y="9378950"/>
            <a:ext cx="29464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625678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F78ADA0C-2925-419A-5672-1AF9E956C2BD}"/>
            </a:ext>
          </a:extLst>
        </p:cNvPr>
        <p:cNvGrpSpPr/>
        <p:nvPr/>
      </p:nvGrpSpPr>
      <p:grpSpPr>
        <a:xfrm>
          <a:off x="0" y="0"/>
          <a:ext cx="0" cy="0"/>
          <a:chOff x="0" y="0"/>
          <a:chExt cx="0" cy="0"/>
        </a:xfrm>
      </p:grpSpPr>
      <p:sp>
        <p:nvSpPr>
          <p:cNvPr id="31" name="Google Shape;31;p1:notes">
            <a:extLst>
              <a:ext uri="{FF2B5EF4-FFF2-40B4-BE49-F238E27FC236}">
                <a16:creationId xmlns:a16="http://schemas.microsoft.com/office/drawing/2014/main" id="{CFA10658-D37B-E053-0E77-97C3004E2584}"/>
              </a:ext>
            </a:extLst>
          </p:cNvPr>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 name="Google Shape;32;p1:notes">
            <a:extLst>
              <a:ext uri="{FF2B5EF4-FFF2-40B4-BE49-F238E27FC236}">
                <a16:creationId xmlns:a16="http://schemas.microsoft.com/office/drawing/2014/main" id="{82EC4F17-6FE4-D92E-38ED-98E5240F3342}"/>
              </a:ext>
            </a:extLst>
          </p:cNvPr>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a:extLst>
              <a:ext uri="{FF2B5EF4-FFF2-40B4-BE49-F238E27FC236}">
                <a16:creationId xmlns:a16="http://schemas.microsoft.com/office/drawing/2014/main" id="{136DD299-0241-9CDB-FF20-61C9EF426AED}"/>
              </a:ext>
            </a:extLst>
          </p:cNvPr>
          <p:cNvSpPr txBox="1"/>
          <p:nvPr/>
        </p:nvSpPr>
        <p:spPr>
          <a:xfrm>
            <a:off x="3849687" y="9378950"/>
            <a:ext cx="29464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15</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69630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1A6E334C-6C71-AEF2-CEDC-47865D9C9FD7}"/>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1A30959B-2705-9298-D9D7-E3D12993890D}"/>
              </a:ext>
            </a:extLst>
          </p:cNvPr>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 name="Google Shape;44;p2:notes">
            <a:extLst>
              <a:ext uri="{FF2B5EF4-FFF2-40B4-BE49-F238E27FC236}">
                <a16:creationId xmlns:a16="http://schemas.microsoft.com/office/drawing/2014/main" id="{A3B51A08-BFE1-F504-2EA4-25755E7465D1}"/>
              </a:ext>
            </a:extLst>
          </p:cNvPr>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559558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2"/>
          <p:cNvSpPr txBox="1">
            <a:spLocks noGrp="1"/>
          </p:cNvSpPr>
          <p:nvPr>
            <p:ph type="ctrTitle"/>
          </p:nvPr>
        </p:nvSpPr>
        <p:spPr>
          <a:xfrm>
            <a:off x="1154955" y="2099733"/>
            <a:ext cx="8825658" cy="267764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
          <p:cNvSpPr txBox="1">
            <a:spLocks noGrp="1"/>
          </p:cNvSpPr>
          <p:nvPr>
            <p:ph type="subTitle" idx="1"/>
          </p:nvPr>
        </p:nvSpPr>
        <p:spPr>
          <a:xfrm>
            <a:off x="1154955" y="4777380"/>
            <a:ext cx="8825658" cy="861420"/>
          </a:xfrm>
          <a:prstGeom prst="rect">
            <a:avLst/>
          </a:prstGeom>
          <a:noFill/>
          <a:ln>
            <a:noFill/>
          </a:ln>
        </p:spPr>
        <p:txBody>
          <a:bodyPr spcFirstLastPara="1" wrap="square" lIns="91425" tIns="45700" rIns="91425" bIns="45700" anchor="t" anchorCtr="0">
            <a:noAutofit/>
          </a:bodyPr>
          <a:lstStyle>
            <a:lvl1pPr lvl="0" algn="l">
              <a:lnSpc>
                <a:spcPct val="100000"/>
              </a:lnSpc>
              <a:spcBef>
                <a:spcPts val="1000"/>
              </a:spcBef>
              <a:spcAft>
                <a:spcPts val="0"/>
              </a:spcAft>
              <a:buSzPts val="2560"/>
              <a:buNone/>
              <a:defRPr cap="none">
                <a:solidFill>
                  <a:schemeClr val="accent1"/>
                </a:solidFill>
              </a:defRPr>
            </a:lvl1pPr>
            <a:lvl2pPr lvl="1" algn="ctr">
              <a:lnSpc>
                <a:spcPct val="100000"/>
              </a:lnSpc>
              <a:spcBef>
                <a:spcPts val="1000"/>
              </a:spcBef>
              <a:spcAft>
                <a:spcPts val="0"/>
              </a:spcAft>
              <a:buSzPts val="1280"/>
              <a:buNone/>
              <a:defRPr>
                <a:solidFill>
                  <a:srgbClr val="888888"/>
                </a:solidFill>
              </a:defRPr>
            </a:lvl2pPr>
            <a:lvl3pPr lvl="2" algn="ctr">
              <a:lnSpc>
                <a:spcPct val="100000"/>
              </a:lnSpc>
              <a:spcBef>
                <a:spcPts val="1000"/>
              </a:spcBef>
              <a:spcAft>
                <a:spcPts val="0"/>
              </a:spcAft>
              <a:buSzPts val="1120"/>
              <a:buNone/>
              <a:defRPr>
                <a:solidFill>
                  <a:srgbClr val="888888"/>
                </a:solidFill>
              </a:defRPr>
            </a:lvl3pPr>
            <a:lvl4pPr lvl="3" algn="ctr">
              <a:lnSpc>
                <a:spcPct val="100000"/>
              </a:lnSpc>
              <a:spcBef>
                <a:spcPts val="1000"/>
              </a:spcBef>
              <a:spcAft>
                <a:spcPts val="0"/>
              </a:spcAft>
              <a:buSzPts val="960"/>
              <a:buNone/>
              <a:defRPr>
                <a:solidFill>
                  <a:srgbClr val="888888"/>
                </a:solidFill>
              </a:defRPr>
            </a:lvl4pPr>
            <a:lvl5pPr lvl="4" algn="ctr">
              <a:lnSpc>
                <a:spcPct val="100000"/>
              </a:lnSpc>
              <a:spcBef>
                <a:spcPts val="1000"/>
              </a:spcBef>
              <a:spcAft>
                <a:spcPts val="0"/>
              </a:spcAft>
              <a:buSzPts val="960"/>
              <a:buNone/>
              <a:defRPr>
                <a:solidFill>
                  <a:srgbClr val="888888"/>
                </a:solidFill>
              </a:defRPr>
            </a:lvl5pPr>
            <a:lvl6pPr lvl="5" algn="ctr">
              <a:lnSpc>
                <a:spcPct val="100000"/>
              </a:lnSpc>
              <a:spcBef>
                <a:spcPts val="1000"/>
              </a:spcBef>
              <a:spcAft>
                <a:spcPts val="0"/>
              </a:spcAft>
              <a:buSzPts val="960"/>
              <a:buNone/>
              <a:defRPr>
                <a:solidFill>
                  <a:srgbClr val="888888"/>
                </a:solidFill>
              </a:defRPr>
            </a:lvl6pPr>
            <a:lvl7pPr lvl="6" algn="ctr">
              <a:lnSpc>
                <a:spcPct val="100000"/>
              </a:lnSpc>
              <a:spcBef>
                <a:spcPts val="1000"/>
              </a:spcBef>
              <a:spcAft>
                <a:spcPts val="0"/>
              </a:spcAft>
              <a:buSzPts val="960"/>
              <a:buNone/>
              <a:defRPr>
                <a:solidFill>
                  <a:srgbClr val="888888"/>
                </a:solidFill>
              </a:defRPr>
            </a:lvl7pPr>
            <a:lvl8pPr lvl="7" algn="ctr">
              <a:lnSpc>
                <a:spcPct val="100000"/>
              </a:lnSpc>
              <a:spcBef>
                <a:spcPts val="1000"/>
              </a:spcBef>
              <a:spcAft>
                <a:spcPts val="0"/>
              </a:spcAft>
              <a:buSzPts val="960"/>
              <a:buNone/>
              <a:defRPr>
                <a:solidFill>
                  <a:srgbClr val="888888"/>
                </a:solidFill>
              </a:defRPr>
            </a:lvl8pPr>
            <a:lvl9pPr lvl="8" algn="ctr">
              <a:lnSpc>
                <a:spcPct val="100000"/>
              </a:lnSpc>
              <a:spcBef>
                <a:spcPts val="1000"/>
              </a:spcBef>
              <a:spcAft>
                <a:spcPts val="0"/>
              </a:spcAft>
              <a:buSzPts val="960"/>
              <a:buNone/>
              <a:defRPr>
                <a:solidFill>
                  <a:srgbClr val="888888"/>
                </a:solidFill>
              </a:defRPr>
            </a:lvl9pPr>
          </a:lstStyle>
          <a:p>
            <a:endParaRPr/>
          </a:p>
        </p:txBody>
      </p:sp>
      <p:sp>
        <p:nvSpPr>
          <p:cNvPr id="27" name="Google Shape;27;p2"/>
          <p:cNvSpPr txBox="1">
            <a:spLocks noGrp="1"/>
          </p:cNvSpPr>
          <p:nvPr>
            <p:ph type="dt" idx="10"/>
          </p:nvPr>
        </p:nvSpPr>
        <p:spPr>
          <a:xfrm rot="5400000">
            <a:off x="10090150" y="1792287"/>
            <a:ext cx="990600" cy="3048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000">
                <a:solidFill>
                  <a:schemeClr val="lt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E531EA59-F30D-408D-84E3-CA75D2E9FC9C}" type="datetime1">
              <a:rPr lang="en-US" smtClean="0"/>
              <a:t>11/17/2025</a:t>
            </a:fld>
            <a:endParaRPr/>
          </a:p>
        </p:txBody>
      </p:sp>
      <p:sp>
        <p:nvSpPr>
          <p:cNvPr id="28" name="Google Shape;28;p2"/>
          <p:cNvSpPr txBox="1">
            <a:spLocks noGrp="1"/>
          </p:cNvSpPr>
          <p:nvPr>
            <p:ph type="ftr" idx="11"/>
          </p:nvPr>
        </p:nvSpPr>
        <p:spPr>
          <a:xfrm rot="5400000">
            <a:off x="8960643" y="3226593"/>
            <a:ext cx="3859212" cy="3048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
          <p:cNvSpPr txBox="1">
            <a:spLocks noGrp="1"/>
          </p:cNvSpPr>
          <p:nvPr>
            <p:ph type="sldNum" idx="12"/>
          </p:nvPr>
        </p:nvSpPr>
        <p:spPr>
          <a:xfrm>
            <a:off x="10350500" y="292100"/>
            <a:ext cx="838200" cy="7683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0" y="-1587"/>
            <a:ext cx="12192000" cy="6865937"/>
            <a:chOff x="0" y="-2373"/>
            <a:chExt cx="12192000" cy="6867027"/>
          </a:xfrm>
        </p:grpSpPr>
        <p:sp>
          <p:nvSpPr>
            <p:cNvPr id="11" name="Google Shape;11;p1"/>
            <p:cNvSpPr/>
            <p:nvPr/>
          </p:nvSpPr>
          <p:spPr>
            <a:xfrm>
              <a:off x="0" y="0"/>
              <a:ext cx="12192000" cy="685800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3220" y="2667000"/>
              <a:ext cx="4191000" cy="4191000"/>
            </a:xfrm>
            <a:prstGeom prst="ellipse">
              <a:avLst/>
            </a:prstGeom>
            <a:gradFill>
              <a:gsLst>
                <a:gs pos="0">
                  <a:srgbClr val="F7F7F7">
                    <a:alpha val="10588"/>
                  </a:srgbClr>
                </a:gs>
                <a:gs pos="36000">
                  <a:srgbClr val="F7F7F7">
                    <a:alpha val="9411"/>
                  </a:srgbClr>
                </a:gs>
                <a:gs pos="75000">
                  <a:srgbClr val="F7F7F7">
                    <a:alpha val="0"/>
                  </a:srgbClr>
                </a:gs>
                <a:gs pos="100000">
                  <a:srgbClr val="F7F7F7">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1750" y="2895600"/>
              <a:ext cx="2362200" cy="2362200"/>
            </a:xfrm>
            <a:prstGeom prst="ellipse">
              <a:avLst/>
            </a:prstGeom>
            <a:gradFill>
              <a:gsLst>
                <a:gs pos="0">
                  <a:srgbClr val="F7F7F7">
                    <a:alpha val="7450"/>
                  </a:srgbClr>
                </a:gs>
                <a:gs pos="36000">
                  <a:srgbClr val="F7F7F7">
                    <a:alpha val="7450"/>
                  </a:srgbClr>
                </a:gs>
                <a:gs pos="72000">
                  <a:srgbClr val="F7F7F7">
                    <a:alpha val="0"/>
                  </a:srgbClr>
                </a:gs>
                <a:gs pos="100000">
                  <a:srgbClr val="F7F7F7">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1"/>
            <p:cNvSpPr/>
            <p:nvPr/>
          </p:nvSpPr>
          <p:spPr>
            <a:xfrm>
              <a:off x="8609012" y="1676400"/>
              <a:ext cx="2819400" cy="2819400"/>
            </a:xfrm>
            <a:prstGeom prst="ellipse">
              <a:avLst/>
            </a:prstGeom>
            <a:gradFill>
              <a:gsLst>
                <a:gs pos="0">
                  <a:srgbClr val="F7F7F7">
                    <a:alpha val="6274"/>
                  </a:srgbClr>
                </a:gs>
                <a:gs pos="36000">
                  <a:srgbClr val="F7F7F7">
                    <a:alpha val="5490"/>
                  </a:srgbClr>
                </a:gs>
                <a:gs pos="69000">
                  <a:srgbClr val="F7F7F7">
                    <a:alpha val="0"/>
                  </a:srgbClr>
                </a:gs>
                <a:gs pos="100000">
                  <a:srgbClr val="F7F7F7">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1"/>
            <p:cNvSpPr/>
            <p:nvPr/>
          </p:nvSpPr>
          <p:spPr>
            <a:xfrm>
              <a:off x="7999412" y="-2373"/>
              <a:ext cx="1600200" cy="1600200"/>
            </a:xfrm>
            <a:prstGeom prst="ellipse">
              <a:avLst/>
            </a:prstGeom>
            <a:gradFill>
              <a:gsLst>
                <a:gs pos="0">
                  <a:srgbClr val="F7F7F7">
                    <a:alpha val="13333"/>
                  </a:srgbClr>
                </a:gs>
                <a:gs pos="36000">
                  <a:srgbClr val="F7F7F7">
                    <a:alpha val="6274"/>
                  </a:srgbClr>
                </a:gs>
                <a:gs pos="73000">
                  <a:srgbClr val="F7F7F7">
                    <a:alpha val="0"/>
                  </a:srgbClr>
                </a:gs>
                <a:gs pos="100000">
                  <a:srgbClr val="F7F7F7">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1"/>
            <p:cNvSpPr/>
            <p:nvPr/>
          </p:nvSpPr>
          <p:spPr>
            <a:xfrm>
              <a:off x="8609012" y="5874054"/>
              <a:ext cx="990600" cy="990600"/>
            </a:xfrm>
            <a:prstGeom prst="ellipse">
              <a:avLst/>
            </a:prstGeom>
            <a:gradFill>
              <a:gsLst>
                <a:gs pos="0">
                  <a:srgbClr val="F7F7F7">
                    <a:alpha val="13333"/>
                  </a:srgbClr>
                </a:gs>
                <a:gs pos="36000">
                  <a:srgbClr val="F7F7F7">
                    <a:alpha val="6274"/>
                  </a:srgbClr>
                </a:gs>
                <a:gs pos="66000">
                  <a:srgbClr val="F7F7F7">
                    <a:alpha val="0"/>
                  </a:srgbClr>
                </a:gs>
                <a:gs pos="100000">
                  <a:srgbClr val="F7F7F7">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1"/>
            <p:cNvSpPr/>
            <p:nvPr/>
          </p:nvSpPr>
          <p:spPr>
            <a:xfrm>
              <a:off x="0" y="804"/>
              <a:ext cx="12192000" cy="6857499"/>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18" name="Google Shape;18;p1"/>
          <p:cNvSpPr/>
          <p:nvPr/>
        </p:nvSpPr>
        <p:spPr>
          <a:xfrm>
            <a:off x="10437812" y="0"/>
            <a:ext cx="685800" cy="1143000"/>
          </a:xfrm>
          <a:prstGeom prst="rect">
            <a:avLst/>
          </a:prstGeom>
          <a:solidFill>
            <a:schemeClr val="accent1"/>
          </a:solidFill>
          <a:ln>
            <a:noFill/>
          </a:ln>
          <a:effectLst>
            <a:outerShdw blurRad="63500" dist="25400" dir="5400000">
              <a:srgbClr val="000000">
                <a:alpha val="4431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 name="Google Shape;19;p1"/>
          <p:cNvSpPr txBox="1">
            <a:spLocks noGrp="1"/>
          </p:cNvSpPr>
          <p:nvPr>
            <p:ph type="title"/>
          </p:nvPr>
        </p:nvSpPr>
        <p:spPr>
          <a:xfrm>
            <a:off x="1155700" y="973137"/>
            <a:ext cx="8761412" cy="7080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600" b="0" i="0" u="none" strike="noStrike" cap="none">
                <a:solidFill>
                  <a:schemeClr val="lt2"/>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3600" b="0" i="0" u="none" strike="noStrike" cap="none">
                <a:solidFill>
                  <a:schemeClr val="lt2"/>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3600" b="0" i="0" u="none" strike="noStrike" cap="none">
                <a:solidFill>
                  <a:schemeClr val="lt2"/>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3600" b="0" i="0" u="none" strike="noStrike" cap="none">
                <a:solidFill>
                  <a:schemeClr val="lt2"/>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3600" b="0" i="0" u="none" strike="noStrike" cap="none">
                <a:solidFill>
                  <a:schemeClr val="lt2"/>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20" name="Google Shape;20;p1"/>
          <p:cNvSpPr txBox="1">
            <a:spLocks noGrp="1"/>
          </p:cNvSpPr>
          <p:nvPr>
            <p:ph type="body" idx="1"/>
          </p:nvPr>
        </p:nvSpPr>
        <p:spPr>
          <a:xfrm>
            <a:off x="1155700" y="2603500"/>
            <a:ext cx="8761412" cy="3416300"/>
          </a:xfrm>
          <a:prstGeom prst="rect">
            <a:avLst/>
          </a:prstGeom>
          <a:noFill/>
          <a:ln>
            <a:noFill/>
          </a:ln>
        </p:spPr>
        <p:txBody>
          <a:bodyPr spcFirstLastPara="1" wrap="square" lIns="91425" tIns="45700" rIns="91425" bIns="45700" anchor="t" anchorCtr="0">
            <a:noAutofit/>
          </a:bodyPr>
          <a:lstStyle>
            <a:lvl1pPr marL="457200" marR="0" lvl="0" indent="-391160" algn="l" rtl="0">
              <a:lnSpc>
                <a:spcPct val="100000"/>
              </a:lnSpc>
              <a:spcBef>
                <a:spcPts val="1000"/>
              </a:spcBef>
              <a:spcAft>
                <a:spcPts val="0"/>
              </a:spcAft>
              <a:buClr>
                <a:schemeClr val="accent1"/>
              </a:buClr>
              <a:buSzPts val="2560"/>
              <a:buFont typeface="Noto Sans Symbols"/>
              <a:buChar char="►"/>
              <a:defRPr sz="3200" b="0" i="0" u="none" strike="noStrike" cap="none">
                <a:solidFill>
                  <a:srgbClr val="404040"/>
                </a:solidFill>
                <a:latin typeface="Century Gothic"/>
                <a:ea typeface="Century Gothic"/>
                <a:cs typeface="Century Gothic"/>
                <a:sym typeface="Century Gothic"/>
              </a:defRPr>
            </a:lvl1pPr>
            <a:lvl2pPr marL="914400" marR="0" lvl="1" indent="-309880" algn="l" rtl="0">
              <a:lnSpc>
                <a:spcPct val="100000"/>
              </a:lnSpc>
              <a:spcBef>
                <a:spcPts val="1000"/>
              </a:spcBef>
              <a:spcAft>
                <a:spcPts val="0"/>
              </a:spcAft>
              <a:buClr>
                <a:schemeClr val="accent1"/>
              </a:buClr>
              <a:buSzPts val="1280"/>
              <a:buFont typeface="Noto Sans Symbols"/>
              <a:buChar char="►"/>
              <a:defRPr sz="1600" b="0" i="0" u="none" strike="noStrike" cap="none">
                <a:solidFill>
                  <a:srgbClr val="404040"/>
                </a:solidFill>
                <a:latin typeface="Century Gothic"/>
                <a:ea typeface="Century Gothic"/>
                <a:cs typeface="Century Gothic"/>
                <a:sym typeface="Century Gothic"/>
              </a:defRPr>
            </a:lvl2pPr>
            <a:lvl3pPr marL="1371600" marR="0" lvl="2" indent="-299719" algn="l" rtl="0">
              <a:lnSpc>
                <a:spcPct val="100000"/>
              </a:lnSpc>
              <a:spcBef>
                <a:spcPts val="1000"/>
              </a:spcBef>
              <a:spcAft>
                <a:spcPts val="0"/>
              </a:spcAft>
              <a:buClr>
                <a:schemeClr val="accent1"/>
              </a:buClr>
              <a:buSzPts val="1120"/>
              <a:buFont typeface="Noto Sans Symbols"/>
              <a:buChar char="►"/>
              <a:defRPr sz="1400" b="0" i="0" u="none" strike="noStrike" cap="none">
                <a:solidFill>
                  <a:srgbClr val="404040"/>
                </a:solidFill>
                <a:latin typeface="Century Gothic"/>
                <a:ea typeface="Century Gothic"/>
                <a:cs typeface="Century Gothic"/>
                <a:sym typeface="Century Gothic"/>
              </a:defRPr>
            </a:lvl3pPr>
            <a:lvl4pPr marL="1828800" marR="0" lvl="3"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404040"/>
                </a:solidFill>
                <a:latin typeface="Century Gothic"/>
                <a:ea typeface="Century Gothic"/>
                <a:cs typeface="Century Gothic"/>
                <a:sym typeface="Century Gothic"/>
              </a:defRPr>
            </a:lvl4pPr>
            <a:lvl5pPr marL="2286000" marR="0" lvl="4"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404040"/>
                </a:solidFill>
                <a:latin typeface="Century Gothic"/>
                <a:ea typeface="Century Gothic"/>
                <a:cs typeface="Century Gothic"/>
                <a:sym typeface="Century Gothic"/>
              </a:defRPr>
            </a:lvl5pPr>
            <a:lvl6pPr marL="2743200" marR="0" lvl="5"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289559"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289559"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21" name="Google Shape;21;p1"/>
          <p:cNvSpPr txBox="1">
            <a:spLocks noGrp="1"/>
          </p:cNvSpPr>
          <p:nvPr>
            <p:ph type="dt" idx="10"/>
          </p:nvPr>
        </p:nvSpPr>
        <p:spPr>
          <a:xfrm rot="5400000">
            <a:off x="10090150" y="1792287"/>
            <a:ext cx="990600" cy="304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fld id="{29DC4AFF-5CA7-4135-87F7-9734ECF29835}" type="datetime1">
              <a:rPr lang="en-US" smtClean="0"/>
              <a:t>11/17/2025</a:t>
            </a:fld>
            <a:endParaRPr/>
          </a:p>
        </p:txBody>
      </p:sp>
      <p:sp>
        <p:nvSpPr>
          <p:cNvPr id="22" name="Google Shape;22;p1"/>
          <p:cNvSpPr txBox="1">
            <a:spLocks noGrp="1"/>
          </p:cNvSpPr>
          <p:nvPr>
            <p:ph type="ftr" idx="11"/>
          </p:nvPr>
        </p:nvSpPr>
        <p:spPr>
          <a:xfrm rot="5400000">
            <a:off x="8960643" y="3226593"/>
            <a:ext cx="3859212" cy="3048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3" name="Google Shape;23;p1"/>
          <p:cNvSpPr txBox="1">
            <a:spLocks noGrp="1"/>
          </p:cNvSpPr>
          <p:nvPr>
            <p:ph type="sldNum" idx="12"/>
          </p:nvPr>
        </p:nvSpPr>
        <p:spPr>
          <a:xfrm>
            <a:off x="10350500" y="292100"/>
            <a:ext cx="838200" cy="768350"/>
          </a:xfrm>
          <a:prstGeom prst="rect">
            <a:avLst/>
          </a:prstGeom>
          <a:noFill/>
          <a:ln>
            <a:noFill/>
          </a:ln>
        </p:spPr>
        <p:txBody>
          <a:bodyPr spcFirstLastPara="1" wrap="square" lIns="91425" tIns="45700" rIns="91425" bIns="45700" anchor="b" anchorCtr="0">
            <a:noAutofit/>
          </a:bodyPr>
          <a:lstStyle>
            <a:lvl1pPr marL="0" marR="0" lvl="0" indent="0" algn="ctr" rtl="0">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2800"/>
              <a:buFont typeface="Century Gothic"/>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Google Shape;35;p3"/>
          <p:cNvSpPr txBox="1">
            <a:spLocks noGrp="1"/>
          </p:cNvSpPr>
          <p:nvPr>
            <p:ph type="ctrTitle"/>
          </p:nvPr>
        </p:nvSpPr>
        <p:spPr>
          <a:xfrm>
            <a:off x="1032387" y="1404542"/>
            <a:ext cx="10156313" cy="1241105"/>
          </a:xfrm>
          <a:prstGeom prst="rect">
            <a:avLst/>
          </a:prstGeom>
          <a:noFill/>
          <a:ln>
            <a:noFill/>
          </a:ln>
        </p:spPr>
        <p:txBody>
          <a:bodyPr spcFirstLastPara="1" wrap="square" lIns="91425" tIns="45700" rIns="91425" bIns="45700" anchor="b" anchorCtr="0">
            <a:noAutofit/>
          </a:bodyPr>
          <a:lstStyle/>
          <a:p>
            <a:pPr lvl="0" algn="ctr">
              <a:buClr>
                <a:schemeClr val="lt2"/>
              </a:buClr>
              <a:buSzPts val="3600"/>
            </a:pPr>
            <a:r>
              <a:rPr lang="en-US" sz="2800" b="0" i="0" dirty="0" smtClean="0">
                <a:solidFill>
                  <a:schemeClr val="lt2"/>
                </a:solidFill>
                <a:sym typeface="Century Gothic"/>
              </a:rPr>
              <a:t>A</a:t>
            </a:r>
            <a:r>
              <a:rPr lang="en-US" sz="2800" dirty="0" smtClean="0"/>
              <a:t>NALYTICAL </a:t>
            </a:r>
            <a:r>
              <a:rPr lang="en-US" sz="2800" dirty="0"/>
              <a:t>PREDICTION  OF OBSTETRIC DELIVERY   METHODS USING </a:t>
            </a:r>
            <a:r>
              <a:rPr lang="en-US" sz="2800" dirty="0" smtClean="0"/>
              <a:t>MACHINE LEARNING </a:t>
            </a:r>
            <a:r>
              <a:rPr lang="en-US" sz="2800" dirty="0"/>
              <a:t>ALGORITHMS.</a:t>
            </a:r>
            <a:endParaRPr dirty="0"/>
          </a:p>
        </p:txBody>
      </p:sp>
      <p:sp>
        <p:nvSpPr>
          <p:cNvPr id="36" name="Google Shape;36;p3"/>
          <p:cNvSpPr txBox="1">
            <a:spLocks noGrp="1"/>
          </p:cNvSpPr>
          <p:nvPr>
            <p:ph type="subTitle" idx="1"/>
          </p:nvPr>
        </p:nvSpPr>
        <p:spPr>
          <a:xfrm>
            <a:off x="3525613" y="2707610"/>
            <a:ext cx="6848587" cy="211917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40"/>
              <a:buNone/>
            </a:pPr>
            <a:r>
              <a:rPr lang="en-US" sz="3600" b="1" dirty="0">
                <a:solidFill>
                  <a:srgbClr val="FF0000"/>
                </a:solidFill>
              </a:rPr>
              <a:t>Team Members:</a:t>
            </a:r>
          </a:p>
          <a:p>
            <a:r>
              <a:rPr lang="en-IN" sz="2000" b="1" dirty="0">
                <a:solidFill>
                  <a:schemeClr val="bg1"/>
                </a:solidFill>
                <a:latin typeface="Times New Roman" panose="02020603050405020304" pitchFamily="18" charset="0"/>
                <a:cs typeface="Times New Roman" panose="02020603050405020304" pitchFamily="18" charset="0"/>
              </a:rPr>
              <a:t>B Matheen                                1HK22CS024</a:t>
            </a:r>
          </a:p>
          <a:p>
            <a:r>
              <a:rPr lang="en-IN" sz="2000" b="1" dirty="0" err="1">
                <a:solidFill>
                  <a:schemeClr val="bg1"/>
                </a:solidFill>
                <a:latin typeface="Times New Roman" panose="02020603050405020304" pitchFamily="18" charset="0"/>
                <a:cs typeface="Times New Roman" panose="02020603050405020304" pitchFamily="18" charset="0"/>
              </a:rPr>
              <a:t>Channakeshava</a:t>
            </a:r>
            <a:r>
              <a:rPr lang="en-IN" sz="2000" b="1" dirty="0">
                <a:solidFill>
                  <a:schemeClr val="bg1"/>
                </a:solidFill>
                <a:latin typeface="Times New Roman" panose="02020603050405020304" pitchFamily="18" charset="0"/>
                <a:cs typeface="Times New Roman" panose="02020603050405020304" pitchFamily="18" charset="0"/>
              </a:rPr>
              <a:t> D L                1HK22CS034</a:t>
            </a:r>
          </a:p>
          <a:p>
            <a:r>
              <a:rPr lang="en-IN" sz="2000" b="1" dirty="0">
                <a:solidFill>
                  <a:schemeClr val="bg1"/>
                </a:solidFill>
                <a:latin typeface="Times New Roman" panose="02020603050405020304" pitchFamily="18" charset="0"/>
                <a:cs typeface="Times New Roman" panose="02020603050405020304" pitchFamily="18" charset="0"/>
              </a:rPr>
              <a:t>Balasubramani                         1HK22CS026</a:t>
            </a:r>
          </a:p>
          <a:p>
            <a:r>
              <a:rPr lang="en-IN" sz="2000" b="1" dirty="0">
                <a:solidFill>
                  <a:schemeClr val="bg1"/>
                </a:solidFill>
                <a:latin typeface="Times New Roman" panose="02020603050405020304" pitchFamily="18" charset="0"/>
                <a:cs typeface="Times New Roman" panose="02020603050405020304" pitchFamily="18" charset="0"/>
              </a:rPr>
              <a:t>Chethan Kumar K B               1HK22CS035</a:t>
            </a:r>
          </a:p>
          <a:p>
            <a:pPr marL="0" lvl="0" indent="0" algn="l" rtl="0">
              <a:lnSpc>
                <a:spcPct val="100000"/>
              </a:lnSpc>
              <a:spcBef>
                <a:spcPts val="0"/>
              </a:spcBef>
              <a:spcAft>
                <a:spcPts val="0"/>
              </a:spcAft>
              <a:buSzPts val="1440"/>
              <a:buNone/>
            </a:pPr>
            <a:endParaRPr sz="3600" b="1" i="0" u="none" dirty="0">
              <a:solidFill>
                <a:srgbClr val="FF0000"/>
              </a:solidFill>
              <a:latin typeface="Century Gothic"/>
              <a:ea typeface="Century Gothic"/>
              <a:cs typeface="Century Gothic"/>
              <a:sym typeface="Century Gothic"/>
            </a:endParaRPr>
          </a:p>
          <a:p>
            <a:pPr marL="0" lvl="0" indent="0" algn="r" rtl="0">
              <a:lnSpc>
                <a:spcPct val="100000"/>
              </a:lnSpc>
              <a:spcBef>
                <a:spcPts val="1000"/>
              </a:spcBef>
              <a:spcAft>
                <a:spcPts val="0"/>
              </a:spcAft>
              <a:buSzPts val="1440"/>
              <a:buNone/>
            </a:pPr>
            <a:r>
              <a:rPr lang="en-US" sz="1800" b="1" i="0" u="none" dirty="0">
                <a:solidFill>
                  <a:srgbClr val="FF0000"/>
                </a:solidFill>
                <a:latin typeface="Century Gothic"/>
                <a:ea typeface="Century Gothic"/>
                <a:cs typeface="Century Gothic"/>
                <a:sym typeface="Century Gothic"/>
              </a:rPr>
              <a:t> </a:t>
            </a:r>
            <a:endParaRPr b="1" dirty="0">
              <a:solidFill>
                <a:srgbClr val="FF0000"/>
              </a:solidFill>
            </a:endParaRPr>
          </a:p>
        </p:txBody>
      </p:sp>
      <p:sp>
        <p:nvSpPr>
          <p:cNvPr id="38" name="Google Shape;38;p3"/>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sp>
        <p:nvSpPr>
          <p:cNvPr id="39" name="Google Shape;39;p3"/>
          <p:cNvSpPr txBox="1"/>
          <p:nvPr/>
        </p:nvSpPr>
        <p:spPr>
          <a:xfrm>
            <a:off x="3248820" y="279544"/>
            <a:ext cx="5757528" cy="881062"/>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2"/>
              </a:buClr>
              <a:buSzPts val="3600"/>
              <a:buFont typeface="Century Gothic"/>
              <a:buNone/>
            </a:pPr>
            <a:r>
              <a:rPr lang="en-US" sz="3600" b="0" i="0" u="none" strike="noStrike" cap="none" dirty="0">
                <a:solidFill>
                  <a:srgbClr val="FFFF00"/>
                </a:solidFill>
                <a:latin typeface="Century Gothic"/>
                <a:ea typeface="Century Gothic"/>
                <a:cs typeface="Century Gothic"/>
                <a:sym typeface="Century Gothic"/>
              </a:rPr>
              <a:t>BCS786 – Project </a:t>
            </a:r>
            <a:r>
              <a:rPr lang="en-US" sz="3600" dirty="0">
                <a:solidFill>
                  <a:srgbClr val="FFFF00"/>
                </a:solidFill>
                <a:latin typeface="Century Gothic"/>
                <a:ea typeface="Century Gothic"/>
                <a:cs typeface="Century Gothic"/>
                <a:sym typeface="Century Gothic"/>
              </a:rPr>
              <a:t>Phase-II</a:t>
            </a:r>
            <a:r>
              <a:rPr lang="en-US" sz="3600" b="0" i="0" u="none" strike="noStrike" cap="none" dirty="0">
                <a:solidFill>
                  <a:srgbClr val="FFFF00"/>
                </a:solidFill>
                <a:latin typeface="Century Gothic"/>
                <a:ea typeface="Century Gothic"/>
                <a:cs typeface="Century Gothic"/>
                <a:sym typeface="Century Gothic"/>
              </a:rPr>
              <a:t> </a:t>
            </a:r>
            <a:endParaRPr sz="1400" b="0" i="0" u="none" strike="noStrike" cap="none" dirty="0">
              <a:solidFill>
                <a:srgbClr val="FFFF00"/>
              </a:solidFill>
              <a:latin typeface="Arial"/>
              <a:ea typeface="Arial"/>
              <a:cs typeface="Arial"/>
              <a:sym typeface="Arial"/>
            </a:endParaRPr>
          </a:p>
        </p:txBody>
      </p:sp>
      <p:sp>
        <p:nvSpPr>
          <p:cNvPr id="41" name="Google Shape;41;p3"/>
          <p:cNvSpPr txBox="1"/>
          <p:nvPr/>
        </p:nvSpPr>
        <p:spPr>
          <a:xfrm>
            <a:off x="771742" y="5160211"/>
            <a:ext cx="7002587" cy="10156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2000" b="1" u="none" strike="noStrike" cap="none" dirty="0">
                <a:solidFill>
                  <a:schemeClr val="tx2"/>
                </a:solidFill>
                <a:latin typeface="Arial"/>
                <a:ea typeface="Arial"/>
                <a:cs typeface="Arial"/>
                <a:sym typeface="Arial"/>
              </a:rPr>
              <a:t>Under the Guidance of:</a:t>
            </a:r>
            <a:endParaRPr sz="2000" b="0" u="none" strike="noStrike" cap="none" dirty="0">
              <a:solidFill>
                <a:schemeClr val="tx2"/>
              </a:solidFill>
              <a:latin typeface="Arial"/>
              <a:ea typeface="Arial"/>
              <a:cs typeface="Arial"/>
              <a:sym typeface="Arial"/>
            </a:endParaRPr>
          </a:p>
          <a:p>
            <a:pPr marL="0" marR="0" lvl="0" indent="0" algn="l" rtl="0">
              <a:lnSpc>
                <a:spcPct val="100000"/>
              </a:lnSpc>
              <a:spcBef>
                <a:spcPts val="0"/>
              </a:spcBef>
              <a:spcAft>
                <a:spcPts val="0"/>
              </a:spcAft>
              <a:buClr>
                <a:srgbClr val="CDE585"/>
              </a:buClr>
              <a:buSzPts val="1800"/>
              <a:buFont typeface="Arial"/>
              <a:buNone/>
            </a:pPr>
            <a:r>
              <a:rPr lang="en-US" sz="2000" b="0" u="none" strike="noStrike" cap="none" dirty="0">
                <a:solidFill>
                  <a:srgbClr val="FFFF00"/>
                </a:solidFill>
                <a:latin typeface="Arial"/>
                <a:ea typeface="Arial"/>
                <a:cs typeface="Arial"/>
                <a:sym typeface="Arial"/>
              </a:rPr>
              <a:t>   </a:t>
            </a:r>
            <a:r>
              <a:rPr lang="en-US" sz="2000" b="0" u="none" strike="noStrike" cap="none" dirty="0" err="1">
                <a:solidFill>
                  <a:srgbClr val="FFFF00"/>
                </a:solidFill>
                <a:latin typeface="Arial"/>
                <a:ea typeface="Arial"/>
                <a:cs typeface="Arial"/>
                <a:sym typeface="Arial"/>
              </a:rPr>
              <a:t>Prof.Khallikkunaisa</a:t>
            </a:r>
            <a:endParaRPr sz="2000" b="0" u="none" strike="noStrike" cap="none" dirty="0">
              <a:solidFill>
                <a:srgbClr val="FFFF00"/>
              </a:solidFill>
              <a:latin typeface="Arial"/>
              <a:ea typeface="Arial"/>
              <a:cs typeface="Arial"/>
              <a:sym typeface="Arial"/>
            </a:endParaRPr>
          </a:p>
          <a:p>
            <a:pPr marL="0" marR="0" lvl="0" indent="0" algn="l" rtl="0">
              <a:lnSpc>
                <a:spcPct val="100000"/>
              </a:lnSpc>
              <a:spcBef>
                <a:spcPts val="0"/>
              </a:spcBef>
              <a:spcAft>
                <a:spcPts val="0"/>
              </a:spcAft>
              <a:buClr>
                <a:srgbClr val="CDE585"/>
              </a:buClr>
              <a:buSzPts val="1800"/>
              <a:buFont typeface="Arial"/>
              <a:buNone/>
            </a:pPr>
            <a:r>
              <a:rPr lang="en-US" sz="2000" b="0" u="none" strike="noStrike" cap="none" dirty="0">
                <a:solidFill>
                  <a:srgbClr val="FFFF00"/>
                </a:solidFill>
                <a:latin typeface="Arial"/>
                <a:ea typeface="Arial"/>
                <a:cs typeface="Arial"/>
                <a:sym typeface="Arial"/>
              </a:rPr>
              <a:t>   </a:t>
            </a:r>
            <a:r>
              <a:rPr lang="en-US" sz="2000" dirty="0" smtClean="0">
                <a:solidFill>
                  <a:srgbClr val="FFFF00"/>
                </a:solidFill>
              </a:rPr>
              <a:t>Associate </a:t>
            </a:r>
            <a:r>
              <a:rPr lang="en-US" sz="2000" dirty="0">
                <a:solidFill>
                  <a:srgbClr val="FFFF00"/>
                </a:solidFill>
              </a:rPr>
              <a:t>Professor</a:t>
            </a:r>
            <a:endParaRPr sz="2800" b="0" u="none" strike="noStrike" cap="none" dirty="0">
              <a:solidFill>
                <a:srgbClr val="FFFF00"/>
              </a:solidFill>
              <a:latin typeface="Arial"/>
              <a:ea typeface="Arial"/>
              <a:cs typeface="Arial"/>
              <a:sym typeface="Arial"/>
            </a:endParaRPr>
          </a:p>
        </p:txBody>
      </p:sp>
      <p:pic>
        <p:nvPicPr>
          <p:cNvPr id="2050" name="Picture 2" descr="Major Changes In VTU's Schemes - Careerindia">
            <a:extLst>
              <a:ext uri="{FF2B5EF4-FFF2-40B4-BE49-F238E27FC236}">
                <a16:creationId xmlns:a16="http://schemas.microsoft.com/office/drawing/2014/main" id="{B0CA9F6B-64C0-45FA-5C94-D076BEE6F0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0"/>
            <a:ext cx="1208528" cy="114871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KBK COLLEGE OF ENGINEERING (HKBKCE) BANGALORE Reviews | Address ...">
            <a:extLst>
              <a:ext uri="{FF2B5EF4-FFF2-40B4-BE49-F238E27FC236}">
                <a16:creationId xmlns:a16="http://schemas.microsoft.com/office/drawing/2014/main" id="{1F710602-420C-4807-1135-B51495708E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50BB7784-DA55-0FC3-B9D4-BC4FFF9F942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
          <a:extLst>
            <a:ext uri="{FF2B5EF4-FFF2-40B4-BE49-F238E27FC236}">
              <a16:creationId xmlns:a16="http://schemas.microsoft.com/office/drawing/2014/main" id="{4A0D514C-7161-F19A-AF68-468E8124B29C}"/>
            </a:ext>
          </a:extLst>
        </p:cNvPr>
        <p:cNvGrpSpPr/>
        <p:nvPr/>
      </p:nvGrpSpPr>
      <p:grpSpPr>
        <a:xfrm>
          <a:off x="0" y="0"/>
          <a:ext cx="0" cy="0"/>
          <a:chOff x="0" y="0"/>
          <a:chExt cx="0" cy="0"/>
        </a:xfrm>
      </p:grpSpPr>
      <p:sp>
        <p:nvSpPr>
          <p:cNvPr id="38" name="Google Shape;38;p3">
            <a:extLst>
              <a:ext uri="{FF2B5EF4-FFF2-40B4-BE49-F238E27FC236}">
                <a16:creationId xmlns:a16="http://schemas.microsoft.com/office/drawing/2014/main" id="{4D82FA16-5081-31F8-9953-51A2532873CB}"/>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pic>
        <p:nvPicPr>
          <p:cNvPr id="2050" name="Picture 2" descr="Major Changes In VTU's Schemes - Careerindia">
            <a:extLst>
              <a:ext uri="{FF2B5EF4-FFF2-40B4-BE49-F238E27FC236}">
                <a16:creationId xmlns:a16="http://schemas.microsoft.com/office/drawing/2014/main" id="{76BD46D9-E7F0-1758-AE15-D4EE18BD34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KBK COLLEGE OF ENGINEERING (HKBKCE) BANGALORE Reviews | Address ...">
            <a:extLst>
              <a:ext uri="{FF2B5EF4-FFF2-40B4-BE49-F238E27FC236}">
                <a16:creationId xmlns:a16="http://schemas.microsoft.com/office/drawing/2014/main" id="{C80B0A3D-CE7B-8A06-7D27-35ACAE7871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1601ABB-AC17-C71C-AD18-2BB2044DCCD9}"/>
              </a:ext>
            </a:extLst>
          </p:cNvPr>
          <p:cNvSpPr txBox="1"/>
          <p:nvPr/>
        </p:nvSpPr>
        <p:spPr>
          <a:xfrm>
            <a:off x="1509701" y="292100"/>
            <a:ext cx="5338915" cy="646331"/>
          </a:xfrm>
          <a:prstGeom prst="rect">
            <a:avLst/>
          </a:prstGeom>
          <a:noFill/>
        </p:spPr>
        <p:txBody>
          <a:bodyPr wrap="square" rtlCol="0">
            <a:spAutoFit/>
          </a:bodyPr>
          <a:lstStyle/>
          <a:p>
            <a:r>
              <a:rPr lang="en-US" sz="3200" dirty="0">
                <a:solidFill>
                  <a:srgbClr val="FFFF00"/>
                </a:solidFill>
                <a:latin typeface="Copperplate Gothic Bold" panose="020E0705020206020404" pitchFamily="34" charset="0"/>
              </a:rPr>
              <a:t>Content</a:t>
            </a:r>
            <a:r>
              <a:rPr lang="en-US" sz="3600" dirty="0">
                <a:solidFill>
                  <a:srgbClr val="FFFF00"/>
                </a:solidFill>
              </a:rPr>
              <a:t> </a:t>
            </a:r>
          </a:p>
        </p:txBody>
      </p:sp>
      <p:sp>
        <p:nvSpPr>
          <p:cNvPr id="4" name="TextBox 3">
            <a:extLst>
              <a:ext uri="{FF2B5EF4-FFF2-40B4-BE49-F238E27FC236}">
                <a16:creationId xmlns:a16="http://schemas.microsoft.com/office/drawing/2014/main" id="{E23F49DF-ACD8-CD5D-4F6B-1BC57F2ABD54}"/>
              </a:ext>
            </a:extLst>
          </p:cNvPr>
          <p:cNvSpPr txBox="1"/>
          <p:nvPr/>
        </p:nvSpPr>
        <p:spPr>
          <a:xfrm>
            <a:off x="1197870" y="779632"/>
            <a:ext cx="7860891" cy="6001643"/>
          </a:xfrm>
          <a:prstGeom prst="rect">
            <a:avLst/>
          </a:prstGeom>
          <a:noFill/>
        </p:spPr>
        <p:txBody>
          <a:bodyPr wrap="square">
            <a:spAutoFit/>
          </a:bodyPr>
          <a:lstStyle/>
          <a:p>
            <a:pPr marL="0" marR="0" indent="457200">
              <a:buNone/>
            </a:pPr>
            <a:r>
              <a:rPr lang="en-IN" sz="2400" dirty="0">
                <a:solidFill>
                  <a:schemeClr val="bg1"/>
                </a:solidFill>
                <a:effectLst/>
                <a:latin typeface="Calibri" panose="020F0502020204030204" pitchFamily="34" charset="0"/>
                <a:ea typeface="Calibri" panose="020F0502020204030204" pitchFamily="34" charset="0"/>
              </a:rPr>
              <a:t>	Abstract</a:t>
            </a:r>
            <a:endParaRPr lang="en-US" sz="2400" dirty="0">
              <a:solidFill>
                <a:schemeClr val="bg1"/>
              </a:solidFill>
              <a:effectLst/>
              <a:latin typeface="Calibri" panose="020F0502020204030204" pitchFamily="34" charset="0"/>
              <a:ea typeface="Calibri" panose="020F0502020204030204" pitchFamily="34" charset="0"/>
            </a:endParaRPr>
          </a:p>
          <a:p>
            <a:pPr marL="0" marR="0">
              <a:buNone/>
            </a:pPr>
            <a:r>
              <a:rPr lang="en-IN" sz="2400" dirty="0">
                <a:solidFill>
                  <a:schemeClr val="bg1"/>
                </a:solidFill>
                <a:effectLst/>
                <a:latin typeface="Calibri" panose="020F0502020204030204" pitchFamily="34" charset="0"/>
                <a:ea typeface="Calibri" panose="020F0502020204030204" pitchFamily="34" charset="0"/>
              </a:rPr>
              <a:t>	Problem Statement</a:t>
            </a:r>
            <a:endParaRPr lang="en-US" sz="2400" dirty="0">
              <a:solidFill>
                <a:schemeClr val="bg1"/>
              </a:solidFill>
              <a:effectLst/>
              <a:latin typeface="Calibri" panose="020F0502020204030204" pitchFamily="34" charset="0"/>
              <a:ea typeface="Calibri" panose="020F0502020204030204" pitchFamily="34" charset="0"/>
            </a:endParaRPr>
          </a:p>
          <a:p>
            <a:pPr marL="0" marR="0">
              <a:buNone/>
            </a:pPr>
            <a:r>
              <a:rPr lang="en-IN" sz="2400" dirty="0">
                <a:solidFill>
                  <a:schemeClr val="bg1"/>
                </a:solidFill>
                <a:effectLst/>
                <a:latin typeface="Calibri" panose="020F0502020204030204" pitchFamily="34" charset="0"/>
                <a:ea typeface="Calibri" panose="020F0502020204030204" pitchFamily="34" charset="0"/>
              </a:rPr>
              <a:t>	Objectives</a:t>
            </a:r>
            <a:endParaRPr lang="en-US" sz="2400" dirty="0">
              <a:solidFill>
                <a:schemeClr val="bg1"/>
              </a:solidFill>
              <a:effectLst/>
              <a:latin typeface="Calibri" panose="020F0502020204030204" pitchFamily="34" charset="0"/>
              <a:ea typeface="Calibri" panose="020F0502020204030204" pitchFamily="34" charset="0"/>
            </a:endParaRPr>
          </a:p>
          <a:p>
            <a:pPr marL="0" marR="0">
              <a:buNone/>
            </a:pPr>
            <a:r>
              <a:rPr lang="en-IN" sz="2400" dirty="0">
                <a:solidFill>
                  <a:schemeClr val="bg1"/>
                </a:solidFill>
                <a:effectLst/>
                <a:latin typeface="Calibri" panose="020F0502020204030204" pitchFamily="34" charset="0"/>
                <a:ea typeface="Calibri" panose="020F0502020204030204" pitchFamily="34" charset="0"/>
              </a:rPr>
              <a:t>	Scope</a:t>
            </a:r>
            <a:endParaRPr lang="en-US" sz="2400" dirty="0">
              <a:solidFill>
                <a:schemeClr val="bg1"/>
              </a:solidFill>
              <a:effectLst/>
              <a:latin typeface="Calibri" panose="020F0502020204030204" pitchFamily="34" charset="0"/>
              <a:ea typeface="Calibri" panose="020F0502020204030204" pitchFamily="34" charset="0"/>
            </a:endParaRPr>
          </a:p>
          <a:p>
            <a:pPr marL="0" marR="0">
              <a:buNone/>
            </a:pPr>
            <a:r>
              <a:rPr lang="en-IN" sz="2400" dirty="0">
                <a:solidFill>
                  <a:schemeClr val="bg1"/>
                </a:solidFill>
                <a:effectLst/>
                <a:latin typeface="Calibri" panose="020F0502020204030204" pitchFamily="34" charset="0"/>
                <a:ea typeface="Calibri" panose="020F0502020204030204" pitchFamily="34" charset="0"/>
              </a:rPr>
              <a:t>	Dataset Details</a:t>
            </a:r>
            <a:endParaRPr lang="en-US" sz="2400" dirty="0">
              <a:solidFill>
                <a:schemeClr val="bg1"/>
              </a:solidFill>
              <a:effectLst/>
              <a:latin typeface="Calibri" panose="020F0502020204030204" pitchFamily="34" charset="0"/>
              <a:ea typeface="Calibri" panose="020F0502020204030204" pitchFamily="34" charset="0"/>
            </a:endParaRPr>
          </a:p>
          <a:p>
            <a:pPr marL="0" marR="0">
              <a:buNone/>
            </a:pPr>
            <a:r>
              <a:rPr lang="en-IN" sz="2400" dirty="0">
                <a:solidFill>
                  <a:schemeClr val="bg1"/>
                </a:solidFill>
                <a:effectLst/>
                <a:latin typeface="Calibri" panose="020F0502020204030204" pitchFamily="34" charset="0"/>
                <a:ea typeface="Calibri" panose="020F0502020204030204" pitchFamily="34" charset="0"/>
              </a:rPr>
              <a:t>	Literature Survey</a:t>
            </a:r>
            <a:endParaRPr lang="en-US" sz="2400" dirty="0">
              <a:solidFill>
                <a:schemeClr val="bg1"/>
              </a:solidFill>
              <a:effectLst/>
              <a:latin typeface="Calibri" panose="020F0502020204030204" pitchFamily="34" charset="0"/>
              <a:ea typeface="Calibri" panose="020F0502020204030204" pitchFamily="34" charset="0"/>
            </a:endParaRPr>
          </a:p>
          <a:p>
            <a:pPr marL="0" marR="0">
              <a:buNone/>
            </a:pPr>
            <a:r>
              <a:rPr lang="en-IN" sz="2400" dirty="0">
                <a:solidFill>
                  <a:schemeClr val="bg1"/>
                </a:solidFill>
                <a:effectLst/>
                <a:latin typeface="Calibri" panose="020F0502020204030204" pitchFamily="34" charset="0"/>
                <a:ea typeface="Calibri" panose="020F0502020204030204" pitchFamily="34" charset="0"/>
              </a:rPr>
              <a:t>	System Architecture</a:t>
            </a:r>
            <a:endParaRPr lang="en-US" sz="2400" dirty="0">
              <a:solidFill>
                <a:schemeClr val="bg1"/>
              </a:solidFill>
              <a:effectLst/>
              <a:latin typeface="Calibri" panose="020F0502020204030204" pitchFamily="34" charset="0"/>
              <a:ea typeface="Calibri" panose="020F0502020204030204" pitchFamily="34" charset="0"/>
            </a:endParaRPr>
          </a:p>
          <a:p>
            <a:pPr marL="0" marR="0">
              <a:buNone/>
            </a:pPr>
            <a:r>
              <a:rPr lang="en-IN" sz="2400" dirty="0">
                <a:solidFill>
                  <a:schemeClr val="bg1"/>
                </a:solidFill>
                <a:effectLst/>
                <a:latin typeface="Calibri" panose="020F0502020204030204" pitchFamily="34" charset="0"/>
                <a:ea typeface="Calibri" panose="020F0502020204030204" pitchFamily="34" charset="0"/>
              </a:rPr>
              <a:t>	Methodology</a:t>
            </a:r>
            <a:endParaRPr lang="en-US" sz="2400" dirty="0">
              <a:solidFill>
                <a:schemeClr val="bg1"/>
              </a:solidFill>
              <a:effectLst/>
              <a:latin typeface="Calibri" panose="020F0502020204030204" pitchFamily="34" charset="0"/>
              <a:ea typeface="Calibri" panose="020F0502020204030204" pitchFamily="34" charset="0"/>
            </a:endParaRPr>
          </a:p>
          <a:p>
            <a:pPr marL="0" marR="0">
              <a:buNone/>
            </a:pPr>
            <a:r>
              <a:rPr lang="en-IN" sz="2400" dirty="0">
                <a:solidFill>
                  <a:schemeClr val="bg1"/>
                </a:solidFill>
                <a:effectLst/>
                <a:latin typeface="Calibri" panose="020F0502020204030204" pitchFamily="34" charset="0"/>
                <a:ea typeface="Calibri" panose="020F0502020204030204" pitchFamily="34" charset="0"/>
              </a:rPr>
              <a:t>	Module Description</a:t>
            </a:r>
            <a:endParaRPr lang="en-US" sz="2400" dirty="0">
              <a:solidFill>
                <a:schemeClr val="bg1"/>
              </a:solidFill>
              <a:effectLst/>
              <a:latin typeface="Calibri" panose="020F0502020204030204" pitchFamily="34" charset="0"/>
              <a:ea typeface="Calibri" panose="020F0502020204030204" pitchFamily="34" charset="0"/>
            </a:endParaRPr>
          </a:p>
          <a:p>
            <a:pPr marL="0" marR="0">
              <a:buNone/>
            </a:pPr>
            <a:r>
              <a:rPr lang="en-IN" sz="2400" dirty="0">
                <a:solidFill>
                  <a:schemeClr val="bg1"/>
                </a:solidFill>
                <a:effectLst/>
                <a:latin typeface="Calibri" panose="020F0502020204030204" pitchFamily="34" charset="0"/>
                <a:ea typeface="Calibri" panose="020F0502020204030204" pitchFamily="34" charset="0"/>
              </a:rPr>
              <a:t>	</a:t>
            </a:r>
            <a:r>
              <a:rPr lang="en-IN" sz="2400" dirty="0" smtClean="0">
                <a:solidFill>
                  <a:schemeClr val="bg1"/>
                </a:solidFill>
                <a:effectLst/>
                <a:latin typeface="Calibri" panose="020F0502020204030204" pitchFamily="34" charset="0"/>
                <a:ea typeface="Calibri" panose="020F0502020204030204" pitchFamily="34" charset="0"/>
              </a:rPr>
              <a:t>Implementation</a:t>
            </a:r>
            <a:endParaRPr lang="en-US" sz="2400" dirty="0">
              <a:solidFill>
                <a:schemeClr val="bg1"/>
              </a:solidFill>
              <a:effectLst/>
              <a:latin typeface="Calibri" panose="020F0502020204030204" pitchFamily="34" charset="0"/>
              <a:ea typeface="Calibri" panose="020F0502020204030204" pitchFamily="34" charset="0"/>
            </a:endParaRPr>
          </a:p>
          <a:p>
            <a:pPr marL="0" marR="0">
              <a:buNone/>
            </a:pPr>
            <a:r>
              <a:rPr lang="en-IN" sz="2400" dirty="0">
                <a:solidFill>
                  <a:schemeClr val="bg1"/>
                </a:solidFill>
                <a:effectLst/>
                <a:latin typeface="Calibri" panose="020F0502020204030204" pitchFamily="34" charset="0"/>
                <a:ea typeface="Calibri" panose="020F0502020204030204" pitchFamily="34" charset="0"/>
              </a:rPr>
              <a:t>	Results / Output </a:t>
            </a:r>
            <a:endParaRPr lang="en-US" sz="2400" dirty="0">
              <a:solidFill>
                <a:schemeClr val="bg1"/>
              </a:solidFill>
              <a:effectLst/>
              <a:latin typeface="Calibri" panose="020F0502020204030204" pitchFamily="34" charset="0"/>
              <a:ea typeface="Calibri" panose="020F0502020204030204" pitchFamily="34" charset="0"/>
            </a:endParaRPr>
          </a:p>
          <a:p>
            <a:pPr marL="0" marR="0" indent="457200">
              <a:buNone/>
            </a:pPr>
            <a:r>
              <a:rPr lang="en-IN" sz="2400" dirty="0">
                <a:solidFill>
                  <a:schemeClr val="bg1"/>
                </a:solidFill>
                <a:effectLst/>
                <a:latin typeface="Calibri" panose="020F0502020204030204" pitchFamily="34" charset="0"/>
                <a:ea typeface="Calibri" panose="020F0502020204030204" pitchFamily="34" charset="0"/>
              </a:rPr>
              <a:t>	Conclusion</a:t>
            </a:r>
            <a:endParaRPr lang="en-US" sz="2400" dirty="0">
              <a:solidFill>
                <a:schemeClr val="bg1"/>
              </a:solidFill>
              <a:effectLst/>
              <a:latin typeface="Calibri" panose="020F0502020204030204" pitchFamily="34" charset="0"/>
              <a:ea typeface="Calibri" panose="020F0502020204030204" pitchFamily="34" charset="0"/>
            </a:endParaRPr>
          </a:p>
          <a:p>
            <a:pPr marL="0" marR="0">
              <a:buNone/>
            </a:pPr>
            <a:r>
              <a:rPr lang="en-IN" sz="2400" dirty="0">
                <a:solidFill>
                  <a:schemeClr val="bg1"/>
                </a:solidFill>
                <a:effectLst/>
                <a:latin typeface="Calibri" panose="020F0502020204030204" pitchFamily="34" charset="0"/>
                <a:ea typeface="Calibri" panose="020F0502020204030204" pitchFamily="34" charset="0"/>
              </a:rPr>
              <a:t>	Future Enhancements</a:t>
            </a:r>
            <a:endParaRPr lang="en-US" sz="2400" dirty="0">
              <a:solidFill>
                <a:schemeClr val="bg1"/>
              </a:solidFill>
              <a:effectLst/>
              <a:latin typeface="Calibri" panose="020F0502020204030204" pitchFamily="34" charset="0"/>
              <a:ea typeface="Calibri" panose="020F0502020204030204" pitchFamily="34" charset="0"/>
            </a:endParaRPr>
          </a:p>
          <a:p>
            <a:pPr marL="0" marR="0">
              <a:buNone/>
            </a:pPr>
            <a:r>
              <a:rPr lang="en-IN" sz="2400" dirty="0">
                <a:solidFill>
                  <a:schemeClr val="bg1"/>
                </a:solidFill>
                <a:effectLst/>
                <a:latin typeface="Calibri" panose="020F0502020204030204" pitchFamily="34" charset="0"/>
                <a:ea typeface="Calibri" panose="020F0502020204030204" pitchFamily="34" charset="0"/>
              </a:rPr>
              <a:t>	References</a:t>
            </a:r>
            <a:endParaRPr lang="en-US" sz="2400" dirty="0">
              <a:solidFill>
                <a:schemeClr val="bg1"/>
              </a:solidFill>
              <a:effectLst/>
              <a:latin typeface="Calibri" panose="020F0502020204030204" pitchFamily="34" charset="0"/>
              <a:ea typeface="Calibri" panose="020F0502020204030204" pitchFamily="34" charset="0"/>
            </a:endParaRPr>
          </a:p>
          <a:p>
            <a:pPr marL="0" marR="0"/>
            <a:r>
              <a:rPr lang="en-IN" sz="2400" dirty="0">
                <a:solidFill>
                  <a:schemeClr val="bg1"/>
                </a:solidFill>
                <a:effectLst/>
                <a:latin typeface="Calibri" panose="020F0502020204030204" pitchFamily="34" charset="0"/>
                <a:ea typeface="Calibri" panose="020F0502020204030204" pitchFamily="34" charset="0"/>
              </a:rPr>
              <a:t>	Acknowledgment</a:t>
            </a:r>
            <a:endParaRPr lang="en-US" sz="2400" dirty="0">
              <a:solidFill>
                <a:schemeClr val="bg1"/>
              </a:solidFill>
              <a:effectLst/>
              <a:latin typeface="Calibri" panose="020F0502020204030204" pitchFamily="34" charset="0"/>
              <a:ea typeface="Calibri" panose="020F0502020204030204" pitchFamily="34" charset="0"/>
            </a:endParaRPr>
          </a:p>
          <a:p>
            <a:pPr marL="342900" marR="0" indent="-342900" algn="l" rtl="0">
              <a:buClr>
                <a:srgbClr val="FF0000"/>
              </a:buClr>
              <a:buFont typeface="Arial" panose="020B0604020202020204" pitchFamily="34" charset="0"/>
              <a:buChar char="•"/>
            </a:pPr>
            <a:endParaRPr lang="en-US" sz="2400" b="0" i="0" u="none" strike="noStrike" baseline="0" dirty="0">
              <a:solidFill>
                <a:schemeClr val="bg1"/>
              </a:solidFill>
              <a:latin typeface="Times New Roman" panose="02020603050405020304" pitchFamily="18" charset="0"/>
            </a:endParaRPr>
          </a:p>
        </p:txBody>
      </p:sp>
      <p:sp>
        <p:nvSpPr>
          <p:cNvPr id="6" name="Slide Number Placeholder 5">
            <a:extLst>
              <a:ext uri="{FF2B5EF4-FFF2-40B4-BE49-F238E27FC236}">
                <a16:creationId xmlns:a16="http://schemas.microsoft.com/office/drawing/2014/main" id="{6E5CAB85-4609-CE4F-17A5-D258B189DF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23082116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
          <a:extLst>
            <a:ext uri="{FF2B5EF4-FFF2-40B4-BE49-F238E27FC236}">
              <a16:creationId xmlns:a16="http://schemas.microsoft.com/office/drawing/2014/main" id="{170E4F15-5185-8E48-E97B-A746B79C3C3E}"/>
            </a:ext>
          </a:extLst>
        </p:cNvPr>
        <p:cNvGrpSpPr/>
        <p:nvPr/>
      </p:nvGrpSpPr>
      <p:grpSpPr>
        <a:xfrm>
          <a:off x="0" y="0"/>
          <a:ext cx="0" cy="0"/>
          <a:chOff x="0" y="0"/>
          <a:chExt cx="0" cy="0"/>
        </a:xfrm>
      </p:grpSpPr>
      <p:sp>
        <p:nvSpPr>
          <p:cNvPr id="38" name="Google Shape;38;p3">
            <a:extLst>
              <a:ext uri="{FF2B5EF4-FFF2-40B4-BE49-F238E27FC236}">
                <a16:creationId xmlns:a16="http://schemas.microsoft.com/office/drawing/2014/main" id="{E1886647-8826-B4C3-C1FB-4FA3AFB83ED2}"/>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pic>
        <p:nvPicPr>
          <p:cNvPr id="2050" name="Picture 2" descr="Major Changes In VTU's Schemes - Careerindia">
            <a:extLst>
              <a:ext uri="{FF2B5EF4-FFF2-40B4-BE49-F238E27FC236}">
                <a16:creationId xmlns:a16="http://schemas.microsoft.com/office/drawing/2014/main" id="{A57706DB-A13F-4E13-6710-937F858D5F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KBK COLLEGE OF ENGINEERING (HKBKCE) BANGALORE Reviews | Address ...">
            <a:extLst>
              <a:ext uri="{FF2B5EF4-FFF2-40B4-BE49-F238E27FC236}">
                <a16:creationId xmlns:a16="http://schemas.microsoft.com/office/drawing/2014/main" id="{66AAEDA8-B1BF-2CBE-8ABF-758BBF8992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F059A5C-CF92-2F87-AE2B-7479A192660E}"/>
              </a:ext>
            </a:extLst>
          </p:cNvPr>
          <p:cNvSpPr txBox="1"/>
          <p:nvPr/>
        </p:nvSpPr>
        <p:spPr>
          <a:xfrm>
            <a:off x="1197869" y="532832"/>
            <a:ext cx="10187885" cy="5940088"/>
          </a:xfrm>
          <a:prstGeom prst="rect">
            <a:avLst/>
          </a:prstGeom>
          <a:noFill/>
        </p:spPr>
        <p:txBody>
          <a:bodyPr wrap="square">
            <a:spAutoFit/>
          </a:bodyPr>
          <a:lstStyle/>
          <a:p>
            <a:pPr>
              <a:buNone/>
            </a:pPr>
            <a:r>
              <a:rPr lang="en-US" sz="3600" b="1" dirty="0">
                <a:solidFill>
                  <a:srgbClr val="FFFF00"/>
                </a:solidFill>
              </a:rPr>
              <a:t>   </a:t>
            </a:r>
            <a:r>
              <a:rPr lang="en-US" sz="3600" b="1" i="1" dirty="0">
                <a:solidFill>
                  <a:srgbClr val="FFFF00"/>
                </a:solidFill>
              </a:rPr>
              <a:t>Abstract</a:t>
            </a:r>
          </a:p>
          <a:p>
            <a:pPr>
              <a:buNone/>
            </a:pPr>
            <a:endParaRPr lang="en-US" sz="2800" b="1" dirty="0">
              <a:solidFill>
                <a:srgbClr val="FFFF00"/>
              </a:solidFill>
            </a:endParaRPr>
          </a:p>
          <a:p>
            <a:pPr algn="just">
              <a:buNone/>
            </a:pPr>
            <a:r>
              <a:rPr lang="en-US" sz="2000" b="1" dirty="0">
                <a:solidFill>
                  <a:srgbClr val="FFFF00"/>
                </a:solidFill>
              </a:rPr>
              <a:t>      </a:t>
            </a:r>
            <a:r>
              <a:rPr lang="en-US" sz="2000" b="1" dirty="0">
                <a:solidFill>
                  <a:schemeClr val="bg1"/>
                </a:solidFill>
              </a:rPr>
              <a:t>Childbirth mode prediction is a critical aspect of obstetric care, aiding healthcare professionals in making informed decisions to ensure maternal safety. Traditional approaches rely on clinical expertise and heuristic-based risk assessment methods, which may not always generalize well across diverse populations. Recent advances in Machine Learning (ML) provide an opportunity to develop data driven predictive models that improve accuracy and support evidence-based decision-making. </a:t>
            </a:r>
          </a:p>
          <a:p>
            <a:pPr algn="just">
              <a:buNone/>
            </a:pPr>
            <a:endParaRPr lang="en-US" sz="2000" b="1" dirty="0">
              <a:solidFill>
                <a:schemeClr val="bg1"/>
              </a:solidFill>
            </a:endParaRPr>
          </a:p>
          <a:p>
            <a:pPr algn="just">
              <a:buNone/>
            </a:pPr>
            <a:r>
              <a:rPr lang="en-US" sz="2000" b="1" dirty="0">
                <a:solidFill>
                  <a:schemeClr val="bg1"/>
                </a:solidFill>
              </a:rPr>
              <a:t>This study explores the application of machine learning (ML) algorithms for predicting the mode of childbirth based on patient data. We utilize </a:t>
            </a:r>
            <a:r>
              <a:rPr lang="en-US" sz="2000" b="1" dirty="0" smtClean="0">
                <a:solidFill>
                  <a:schemeClr val="bg1"/>
                </a:solidFill>
              </a:rPr>
              <a:t>datasets </a:t>
            </a:r>
            <a:r>
              <a:rPr lang="en-US" sz="2000" b="1" dirty="0">
                <a:solidFill>
                  <a:schemeClr val="bg1"/>
                </a:solidFill>
              </a:rPr>
              <a:t>containing demographic, clinical, and obstetric history features, including maternal age, gestational age, body mass index (BMI), medical conditions. Various ML models, including logistic regression, decision trees, random forests are evaluated for accuracy, precision, and recall.</a:t>
            </a:r>
          </a:p>
          <a:p>
            <a:pPr algn="just">
              <a:buNone/>
            </a:pPr>
            <a:endParaRPr lang="en-US" sz="2000" b="1" dirty="0">
              <a:solidFill>
                <a:srgbClr val="FFFF00"/>
              </a:solidFill>
            </a:endParaRPr>
          </a:p>
          <a:p>
            <a:endParaRPr lang="en-US" sz="1600" dirty="0">
              <a:solidFill>
                <a:schemeClr val="bg1"/>
              </a:solidFill>
            </a:endParaRPr>
          </a:p>
        </p:txBody>
      </p:sp>
      <p:sp>
        <p:nvSpPr>
          <p:cNvPr id="9" name="Slide Number Placeholder 8">
            <a:extLst>
              <a:ext uri="{FF2B5EF4-FFF2-40B4-BE49-F238E27FC236}">
                <a16:creationId xmlns:a16="http://schemas.microsoft.com/office/drawing/2014/main" id="{D05B7E87-6AD9-702A-633E-E1E8E796D5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41850978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
          <a:extLst>
            <a:ext uri="{FF2B5EF4-FFF2-40B4-BE49-F238E27FC236}">
              <a16:creationId xmlns:a16="http://schemas.microsoft.com/office/drawing/2014/main" id="{5D483679-0FBA-F953-B51A-1630B86C5CFF}"/>
            </a:ext>
          </a:extLst>
        </p:cNvPr>
        <p:cNvGrpSpPr/>
        <p:nvPr/>
      </p:nvGrpSpPr>
      <p:grpSpPr>
        <a:xfrm>
          <a:off x="0" y="0"/>
          <a:ext cx="0" cy="0"/>
          <a:chOff x="0" y="0"/>
          <a:chExt cx="0" cy="0"/>
        </a:xfrm>
      </p:grpSpPr>
      <p:sp>
        <p:nvSpPr>
          <p:cNvPr id="38" name="Google Shape;38;p3">
            <a:extLst>
              <a:ext uri="{FF2B5EF4-FFF2-40B4-BE49-F238E27FC236}">
                <a16:creationId xmlns:a16="http://schemas.microsoft.com/office/drawing/2014/main" id="{204D1AFC-16AD-D3EC-F7FE-7ED413C4ABA6}"/>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pic>
        <p:nvPicPr>
          <p:cNvPr id="2050" name="Picture 2" descr="Major Changes In VTU's Schemes - Careerindia">
            <a:extLst>
              <a:ext uri="{FF2B5EF4-FFF2-40B4-BE49-F238E27FC236}">
                <a16:creationId xmlns:a16="http://schemas.microsoft.com/office/drawing/2014/main" id="{5EBC52E2-732D-F073-0DD7-3561167731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KBK COLLEGE OF ENGINEERING (HKBKCE) BANGALORE Reviews | Address ...">
            <a:extLst>
              <a:ext uri="{FF2B5EF4-FFF2-40B4-BE49-F238E27FC236}">
                <a16:creationId xmlns:a16="http://schemas.microsoft.com/office/drawing/2014/main" id="{E527C3A1-1386-AE61-C11B-A0A785B570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E4B9357-9203-5CA8-9B0B-F9DBB23E4357}"/>
              </a:ext>
            </a:extLst>
          </p:cNvPr>
          <p:cNvSpPr txBox="1"/>
          <p:nvPr/>
        </p:nvSpPr>
        <p:spPr>
          <a:xfrm>
            <a:off x="1388807" y="622462"/>
            <a:ext cx="9475838" cy="3431709"/>
          </a:xfrm>
          <a:prstGeom prst="rect">
            <a:avLst/>
          </a:prstGeom>
          <a:noFill/>
        </p:spPr>
        <p:txBody>
          <a:bodyPr wrap="square">
            <a:spAutoFit/>
          </a:bodyPr>
          <a:lstStyle/>
          <a:p>
            <a:pPr>
              <a:buNone/>
            </a:pPr>
            <a:r>
              <a:rPr lang="en-US" sz="2800" b="1" u="sng" dirty="0">
                <a:solidFill>
                  <a:srgbClr val="FFFF00"/>
                </a:solidFill>
              </a:rPr>
              <a:t>Problem Statement</a:t>
            </a:r>
          </a:p>
          <a:p>
            <a:pPr>
              <a:buNone/>
            </a:pPr>
            <a:endParaRPr lang="en-US" sz="2100" b="1" dirty="0">
              <a:solidFill>
                <a:srgbClr val="FFFF00"/>
              </a:solidFill>
            </a:endParaRPr>
          </a:p>
          <a:p>
            <a:r>
              <a:rPr lang="en-US" sz="2100" b="1" dirty="0">
                <a:solidFill>
                  <a:srgbClr val="FFFF00"/>
                </a:solidFill>
              </a:rPr>
              <a:t> </a:t>
            </a:r>
            <a:r>
              <a:rPr lang="en-US" sz="2100" b="1" dirty="0">
                <a:solidFill>
                  <a:schemeClr val="bg1"/>
                </a:solidFill>
              </a:rPr>
              <a:t> </a:t>
            </a:r>
            <a:r>
              <a:rPr lang="en-US" sz="2400" dirty="0">
                <a:solidFill>
                  <a:schemeClr val="bg1"/>
                </a:solidFill>
              </a:rPr>
              <a:t>Traditional, expertise-based methods for predicting childbirth modes are unreliable and contribute to a high rate of unnecessary cesarean deliveries. The problem is urgent, as C-section rates have exceeded the World Health Organization's recommendation by 35.5%. The project aims to solve this by creating a machine learning-based decision support system to improve the safety and accuracy of childbirth management.</a:t>
            </a:r>
          </a:p>
        </p:txBody>
      </p:sp>
      <p:sp>
        <p:nvSpPr>
          <p:cNvPr id="5" name="Slide Number Placeholder 4">
            <a:extLst>
              <a:ext uri="{FF2B5EF4-FFF2-40B4-BE49-F238E27FC236}">
                <a16:creationId xmlns:a16="http://schemas.microsoft.com/office/drawing/2014/main" id="{5D8A464A-4CB4-B21F-93EE-3BD144B8BB5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862349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
          <a:extLst>
            <a:ext uri="{FF2B5EF4-FFF2-40B4-BE49-F238E27FC236}">
              <a16:creationId xmlns:a16="http://schemas.microsoft.com/office/drawing/2014/main" id="{B7E88F28-DF93-4A6C-C733-4C20A6BB7664}"/>
            </a:ext>
          </a:extLst>
        </p:cNvPr>
        <p:cNvGrpSpPr/>
        <p:nvPr/>
      </p:nvGrpSpPr>
      <p:grpSpPr>
        <a:xfrm>
          <a:off x="0" y="0"/>
          <a:ext cx="0" cy="0"/>
          <a:chOff x="0" y="0"/>
          <a:chExt cx="0" cy="0"/>
        </a:xfrm>
      </p:grpSpPr>
      <p:sp>
        <p:nvSpPr>
          <p:cNvPr id="38" name="Google Shape;38;p3">
            <a:extLst>
              <a:ext uri="{FF2B5EF4-FFF2-40B4-BE49-F238E27FC236}">
                <a16:creationId xmlns:a16="http://schemas.microsoft.com/office/drawing/2014/main" id="{C648620E-1000-28CE-B7C4-A38CB76899B7}"/>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pic>
        <p:nvPicPr>
          <p:cNvPr id="2050" name="Picture 2" descr="Major Changes In VTU's Schemes - Careerindia">
            <a:extLst>
              <a:ext uri="{FF2B5EF4-FFF2-40B4-BE49-F238E27FC236}">
                <a16:creationId xmlns:a16="http://schemas.microsoft.com/office/drawing/2014/main" id="{789D1B68-09D5-EAAB-777E-B3B5322A02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KBK COLLEGE OF ENGINEERING (HKBKCE) BANGALORE Reviews | Address ...">
            <a:extLst>
              <a:ext uri="{FF2B5EF4-FFF2-40B4-BE49-F238E27FC236}">
                <a16:creationId xmlns:a16="http://schemas.microsoft.com/office/drawing/2014/main" id="{071BEC49-BCAB-05B0-F34F-16193561CE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4761609-A83C-72AC-A7EC-E3C895B66FCF}"/>
              </a:ext>
            </a:extLst>
          </p:cNvPr>
          <p:cNvSpPr txBox="1"/>
          <p:nvPr/>
        </p:nvSpPr>
        <p:spPr>
          <a:xfrm>
            <a:off x="1197870" y="456215"/>
            <a:ext cx="10364865" cy="5632311"/>
          </a:xfrm>
          <a:prstGeom prst="rect">
            <a:avLst/>
          </a:prstGeom>
          <a:noFill/>
        </p:spPr>
        <p:txBody>
          <a:bodyPr wrap="square">
            <a:spAutoFit/>
          </a:bodyPr>
          <a:lstStyle/>
          <a:p>
            <a:pPr>
              <a:buNone/>
            </a:pPr>
            <a:r>
              <a:rPr lang="en-US" sz="3600" b="1" u="sng" dirty="0">
                <a:solidFill>
                  <a:srgbClr val="FFFF00"/>
                </a:solidFill>
              </a:rPr>
              <a:t>Objectives</a:t>
            </a:r>
          </a:p>
          <a:p>
            <a:endParaRPr lang="en-US" sz="3600" b="1" dirty="0">
              <a:solidFill>
                <a:srgbClr val="FFFF00"/>
              </a:solidFill>
            </a:endParaRPr>
          </a:p>
          <a:p>
            <a:pPr marL="342900" indent="-342900" algn="just">
              <a:buFont typeface="Wingdings" panose="05000000000000000000" pitchFamily="2" charset="2"/>
              <a:buChar char="§"/>
            </a:pPr>
            <a:r>
              <a:rPr lang="en-US" sz="2400" dirty="0">
                <a:solidFill>
                  <a:schemeClr val="bg1"/>
                </a:solidFill>
              </a:rPr>
              <a:t>To apply machine learning (ML) algorithms to predict the mode of childbirth using various datasets.</a:t>
            </a:r>
          </a:p>
          <a:p>
            <a:pPr marL="342900" indent="-342900" algn="just">
              <a:buFont typeface="Wingdings" panose="05000000000000000000" pitchFamily="2" charset="2"/>
              <a:buChar char="§"/>
            </a:pPr>
            <a:r>
              <a:rPr lang="en-US" sz="2400" dirty="0">
                <a:solidFill>
                  <a:schemeClr val="bg1"/>
                </a:solidFill>
              </a:rPr>
              <a:t>To utilize datasets containing demographic, clinical, and obstetric history features such as maternal age, gestational age, BMI, medical conditions, and previous delivery history.</a:t>
            </a:r>
          </a:p>
          <a:p>
            <a:pPr marL="342900" indent="-342900" algn="just">
              <a:buFont typeface="Wingdings" panose="05000000000000000000" pitchFamily="2" charset="2"/>
              <a:buChar char="§"/>
            </a:pPr>
            <a:r>
              <a:rPr lang="en-US" sz="2400" dirty="0">
                <a:solidFill>
                  <a:schemeClr val="bg1"/>
                </a:solidFill>
              </a:rPr>
              <a:t>To evaluate and compare </a:t>
            </a:r>
            <a:r>
              <a:rPr lang="en-US" sz="2400" dirty="0" smtClean="0">
                <a:solidFill>
                  <a:schemeClr val="bg1"/>
                </a:solidFill>
              </a:rPr>
              <a:t>machine </a:t>
            </a:r>
            <a:r>
              <a:rPr lang="en-US" sz="2400" dirty="0">
                <a:solidFill>
                  <a:schemeClr val="bg1"/>
                </a:solidFill>
              </a:rPr>
              <a:t>learning models, including </a:t>
            </a:r>
            <a:r>
              <a:rPr lang="en-US" sz="2400" b="1" dirty="0">
                <a:solidFill>
                  <a:schemeClr val="bg1"/>
                </a:solidFill>
              </a:rPr>
              <a:t>Random Forest</a:t>
            </a:r>
            <a:r>
              <a:rPr lang="en-US" sz="2400" dirty="0">
                <a:solidFill>
                  <a:schemeClr val="bg1"/>
                </a:solidFill>
              </a:rPr>
              <a:t> and </a:t>
            </a:r>
            <a:r>
              <a:rPr lang="en-US" sz="2400" dirty="0" smtClean="0">
                <a:solidFill>
                  <a:schemeClr val="bg1"/>
                </a:solidFill>
              </a:rPr>
              <a:t>to </a:t>
            </a:r>
            <a:r>
              <a:rPr lang="en-US" sz="2400" dirty="0">
                <a:solidFill>
                  <a:schemeClr val="bg1"/>
                </a:solidFill>
              </a:rPr>
              <a:t>assist physicians in choosing the most effective delivery method</a:t>
            </a:r>
            <a:r>
              <a:rPr lang="en-US" sz="2400" dirty="0" smtClean="0">
                <a:solidFill>
                  <a:schemeClr val="bg1"/>
                </a:solidFill>
              </a:rPr>
              <a:t>.</a:t>
            </a:r>
          </a:p>
          <a:p>
            <a:pPr marL="342900" indent="-342900" algn="just">
              <a:buFont typeface="Wingdings" panose="05000000000000000000" pitchFamily="2" charset="2"/>
              <a:buChar char="§"/>
            </a:pPr>
            <a:r>
              <a:rPr lang="en-US" sz="2400" dirty="0" smtClean="0">
                <a:solidFill>
                  <a:schemeClr val="bg1"/>
                </a:solidFill>
              </a:rPr>
              <a:t>To </a:t>
            </a:r>
            <a:r>
              <a:rPr lang="en-US" sz="2400" dirty="0">
                <a:solidFill>
                  <a:schemeClr val="bg1"/>
                </a:solidFill>
              </a:rPr>
              <a:t>develop a computerized, intelligent approach to support informed decision-making about the most suitable mode of childbirth, thereby reducing avoidable surgeries and improving maternal and infant health outcomes</a:t>
            </a:r>
            <a:r>
              <a:rPr lang="en-US" sz="2400" dirty="0" smtClean="0">
                <a:solidFill>
                  <a:schemeClr val="bg1"/>
                </a:solidFill>
              </a:rPr>
              <a:t>.</a:t>
            </a:r>
            <a:endParaRPr lang="en-US" sz="2400" dirty="0">
              <a:solidFill>
                <a:schemeClr val="bg1"/>
              </a:solidFill>
            </a:endParaRPr>
          </a:p>
        </p:txBody>
      </p:sp>
      <p:sp>
        <p:nvSpPr>
          <p:cNvPr id="5" name="Slide Number Placeholder 4">
            <a:extLst>
              <a:ext uri="{FF2B5EF4-FFF2-40B4-BE49-F238E27FC236}">
                <a16:creationId xmlns:a16="http://schemas.microsoft.com/office/drawing/2014/main" id="{CE828F5E-376E-DE6F-0469-33FEB8C026F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3825200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
          <a:extLst>
            <a:ext uri="{FF2B5EF4-FFF2-40B4-BE49-F238E27FC236}">
              <a16:creationId xmlns:a16="http://schemas.microsoft.com/office/drawing/2014/main" id="{33F4FEEB-BE0D-C264-E45A-CDE71DAEBB3B}"/>
            </a:ext>
          </a:extLst>
        </p:cNvPr>
        <p:cNvGrpSpPr/>
        <p:nvPr/>
      </p:nvGrpSpPr>
      <p:grpSpPr>
        <a:xfrm>
          <a:off x="0" y="0"/>
          <a:ext cx="0" cy="0"/>
          <a:chOff x="0" y="0"/>
          <a:chExt cx="0" cy="0"/>
        </a:xfrm>
      </p:grpSpPr>
      <p:sp>
        <p:nvSpPr>
          <p:cNvPr id="38" name="Google Shape;38;p3">
            <a:extLst>
              <a:ext uri="{FF2B5EF4-FFF2-40B4-BE49-F238E27FC236}">
                <a16:creationId xmlns:a16="http://schemas.microsoft.com/office/drawing/2014/main" id="{3EF4AFB6-9757-6D49-06CA-FCD55EE0A0C5}"/>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pic>
        <p:nvPicPr>
          <p:cNvPr id="2050" name="Picture 2" descr="Major Changes In VTU's Schemes - Careerindia">
            <a:extLst>
              <a:ext uri="{FF2B5EF4-FFF2-40B4-BE49-F238E27FC236}">
                <a16:creationId xmlns:a16="http://schemas.microsoft.com/office/drawing/2014/main" id="{AA4FC7A2-87F5-D5A6-660C-A4706D1AA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KBK COLLEGE OF ENGINEERING (HKBKCE) BANGALORE Reviews | Address ...">
            <a:extLst>
              <a:ext uri="{FF2B5EF4-FFF2-40B4-BE49-F238E27FC236}">
                <a16:creationId xmlns:a16="http://schemas.microsoft.com/office/drawing/2014/main" id="{26C5000B-91B6-38F5-852F-6C8FB81ADB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DEDE098-4380-1F34-FB77-8E87959ACCA1}"/>
              </a:ext>
            </a:extLst>
          </p:cNvPr>
          <p:cNvSpPr txBox="1"/>
          <p:nvPr/>
        </p:nvSpPr>
        <p:spPr>
          <a:xfrm>
            <a:off x="1197870" y="456215"/>
            <a:ext cx="9990830" cy="3970318"/>
          </a:xfrm>
          <a:prstGeom prst="rect">
            <a:avLst/>
          </a:prstGeom>
          <a:noFill/>
        </p:spPr>
        <p:txBody>
          <a:bodyPr wrap="square">
            <a:spAutoFit/>
          </a:bodyPr>
          <a:lstStyle/>
          <a:p>
            <a:pPr algn="just">
              <a:buNone/>
            </a:pPr>
            <a:r>
              <a:rPr lang="en-US" sz="2800" b="1" u="sng" dirty="0">
                <a:solidFill>
                  <a:srgbClr val="FFFF00"/>
                </a:solidFill>
              </a:rPr>
              <a:t>Scope of the Project</a:t>
            </a:r>
          </a:p>
          <a:p>
            <a:pPr algn="just">
              <a:buNone/>
            </a:pPr>
            <a:endParaRPr lang="en-US" sz="2400" b="1" dirty="0">
              <a:solidFill>
                <a:schemeClr val="bg1"/>
              </a:solidFill>
            </a:endParaRPr>
          </a:p>
          <a:p>
            <a:pPr algn="just"/>
            <a:r>
              <a:rPr lang="en-US" sz="2000" dirty="0">
                <a:solidFill>
                  <a:schemeClr val="bg1"/>
                </a:solidFill>
              </a:rPr>
              <a:t>   The scope of this project is to develop a predictive model using machine learning to determine the most suitable mode of childbirth.</a:t>
            </a:r>
          </a:p>
          <a:p>
            <a:pPr algn="just"/>
            <a:r>
              <a:rPr lang="en-US" sz="2000" dirty="0">
                <a:solidFill>
                  <a:schemeClr val="bg1"/>
                </a:solidFill>
              </a:rPr>
              <a:t>  </a:t>
            </a:r>
            <a:endParaRPr lang="en-US" sz="2000" dirty="0" smtClean="0">
              <a:solidFill>
                <a:schemeClr val="bg1"/>
              </a:solidFill>
            </a:endParaRPr>
          </a:p>
          <a:p>
            <a:pPr algn="just"/>
            <a:endParaRPr lang="en-US" sz="2000" dirty="0" smtClean="0">
              <a:solidFill>
                <a:schemeClr val="bg1"/>
              </a:solidFill>
            </a:endParaRPr>
          </a:p>
          <a:p>
            <a:pPr algn="just"/>
            <a:r>
              <a:rPr lang="en-US" sz="2000" dirty="0">
                <a:solidFill>
                  <a:schemeClr val="bg1"/>
                </a:solidFill>
              </a:rPr>
              <a:t> </a:t>
            </a:r>
            <a:r>
              <a:rPr lang="en-US" sz="2000" dirty="0" smtClean="0">
                <a:solidFill>
                  <a:schemeClr val="bg1"/>
                </a:solidFill>
              </a:rPr>
              <a:t>  It </a:t>
            </a:r>
            <a:r>
              <a:rPr lang="en-US" sz="2000" dirty="0">
                <a:solidFill>
                  <a:schemeClr val="bg1"/>
                </a:solidFill>
              </a:rPr>
              <a:t>will compare various machine learning algorithms, including Random </a:t>
            </a:r>
            <a:r>
              <a:rPr lang="en-US" sz="2000" dirty="0" smtClean="0">
                <a:solidFill>
                  <a:schemeClr val="bg1"/>
                </a:solidFill>
              </a:rPr>
              <a:t>Forest to </a:t>
            </a:r>
            <a:r>
              <a:rPr lang="en-US" sz="2000" dirty="0">
                <a:solidFill>
                  <a:schemeClr val="bg1"/>
                </a:solidFill>
              </a:rPr>
              <a:t>assist healthcare professionals in data-driven decision-making</a:t>
            </a:r>
            <a:r>
              <a:rPr lang="en-US" sz="2000" dirty="0" smtClean="0">
                <a:solidFill>
                  <a:schemeClr val="bg1"/>
                </a:solidFill>
              </a:rPr>
              <a:t>.</a:t>
            </a:r>
          </a:p>
          <a:p>
            <a:pPr algn="just"/>
            <a:endParaRPr lang="en-US" sz="2000" dirty="0">
              <a:solidFill>
                <a:schemeClr val="bg1"/>
              </a:solidFill>
            </a:endParaRPr>
          </a:p>
          <a:p>
            <a:pPr algn="just"/>
            <a:endParaRPr lang="en-US" sz="2000" dirty="0">
              <a:solidFill>
                <a:schemeClr val="bg1"/>
              </a:solidFill>
            </a:endParaRPr>
          </a:p>
          <a:p>
            <a:pPr algn="just"/>
            <a:r>
              <a:rPr lang="en-US" sz="2000" dirty="0">
                <a:solidFill>
                  <a:schemeClr val="bg1"/>
                </a:solidFill>
              </a:rPr>
              <a:t>    The ultimate goal is to reduce unnecessary cesarean deliveries and improve maternal and neonatal health outcomes.</a:t>
            </a:r>
          </a:p>
        </p:txBody>
      </p:sp>
      <p:sp>
        <p:nvSpPr>
          <p:cNvPr id="4" name="Slide Number Placeholder 3">
            <a:extLst>
              <a:ext uri="{FF2B5EF4-FFF2-40B4-BE49-F238E27FC236}">
                <a16:creationId xmlns:a16="http://schemas.microsoft.com/office/drawing/2014/main" id="{7714B448-F288-4654-46CB-31C74E65FA8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2342379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
          <a:extLst>
            <a:ext uri="{FF2B5EF4-FFF2-40B4-BE49-F238E27FC236}">
              <a16:creationId xmlns:a16="http://schemas.microsoft.com/office/drawing/2014/main" id="{935370A6-5EFA-CF13-BDDE-F695A5FBDB4D}"/>
            </a:ext>
          </a:extLst>
        </p:cNvPr>
        <p:cNvGrpSpPr/>
        <p:nvPr/>
      </p:nvGrpSpPr>
      <p:grpSpPr>
        <a:xfrm>
          <a:off x="0" y="0"/>
          <a:ext cx="0" cy="0"/>
          <a:chOff x="0" y="0"/>
          <a:chExt cx="0" cy="0"/>
        </a:xfrm>
      </p:grpSpPr>
      <p:sp>
        <p:nvSpPr>
          <p:cNvPr id="38" name="Google Shape;38;p3">
            <a:extLst>
              <a:ext uri="{FF2B5EF4-FFF2-40B4-BE49-F238E27FC236}">
                <a16:creationId xmlns:a16="http://schemas.microsoft.com/office/drawing/2014/main" id="{19D40B72-3AE7-23D6-ADAE-D012794176ED}"/>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pic>
        <p:nvPicPr>
          <p:cNvPr id="2050" name="Picture 2" descr="Major Changes In VTU's Schemes - Careerindia">
            <a:extLst>
              <a:ext uri="{FF2B5EF4-FFF2-40B4-BE49-F238E27FC236}">
                <a16:creationId xmlns:a16="http://schemas.microsoft.com/office/drawing/2014/main" id="{1EEB1661-9F36-294E-6F89-D849D56F66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KBK COLLEGE OF ENGINEERING (HKBKCE) BANGALORE Reviews | Address ...">
            <a:extLst>
              <a:ext uri="{FF2B5EF4-FFF2-40B4-BE49-F238E27FC236}">
                <a16:creationId xmlns:a16="http://schemas.microsoft.com/office/drawing/2014/main" id="{3B6EE621-0BA3-9D33-4859-AC5AD1B959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B056105-71C7-CA68-4192-0202C5EFE6AA}"/>
              </a:ext>
            </a:extLst>
          </p:cNvPr>
          <p:cNvSpPr txBox="1"/>
          <p:nvPr/>
        </p:nvSpPr>
        <p:spPr>
          <a:xfrm>
            <a:off x="1374851" y="626561"/>
            <a:ext cx="7755193" cy="1200329"/>
          </a:xfrm>
          <a:prstGeom prst="rect">
            <a:avLst/>
          </a:prstGeom>
          <a:noFill/>
        </p:spPr>
        <p:txBody>
          <a:bodyPr wrap="square">
            <a:spAutoFit/>
          </a:bodyPr>
          <a:lstStyle/>
          <a:p>
            <a:pPr>
              <a:buNone/>
            </a:pPr>
            <a:r>
              <a:rPr lang="en-US" sz="3600" b="1" u="sng" dirty="0">
                <a:solidFill>
                  <a:srgbClr val="FFFF00"/>
                </a:solidFill>
              </a:rPr>
              <a:t>Dataset Details</a:t>
            </a:r>
          </a:p>
          <a:p>
            <a:pPr>
              <a:buNone/>
            </a:pPr>
            <a:endParaRPr lang="en-US" sz="3600" b="1" dirty="0">
              <a:solidFill>
                <a:srgbClr val="FFFF00"/>
              </a:solidFill>
            </a:endParaRPr>
          </a:p>
        </p:txBody>
      </p:sp>
      <p:sp>
        <p:nvSpPr>
          <p:cNvPr id="4" name="TextBox 3">
            <a:extLst>
              <a:ext uri="{FF2B5EF4-FFF2-40B4-BE49-F238E27FC236}">
                <a16:creationId xmlns:a16="http://schemas.microsoft.com/office/drawing/2014/main" id="{CA24C029-ECD8-82A1-C4CA-80FD551722F2}"/>
              </a:ext>
            </a:extLst>
          </p:cNvPr>
          <p:cNvSpPr txBox="1"/>
          <p:nvPr/>
        </p:nvSpPr>
        <p:spPr>
          <a:xfrm>
            <a:off x="943896" y="1435599"/>
            <a:ext cx="10451691" cy="4493538"/>
          </a:xfrm>
          <a:prstGeom prst="rect">
            <a:avLst/>
          </a:prstGeom>
          <a:noFill/>
        </p:spPr>
        <p:txBody>
          <a:bodyPr wrap="square">
            <a:spAutoFit/>
          </a:bodyPr>
          <a:lstStyle/>
          <a:p>
            <a:pPr marL="342900" indent="-342900" algn="just">
              <a:buFont typeface="Wingdings" panose="05000000000000000000" pitchFamily="2" charset="2"/>
              <a:buChar char="q"/>
            </a:pPr>
            <a:r>
              <a:rPr lang="en-US" sz="2200" b="1" dirty="0">
                <a:solidFill>
                  <a:srgbClr val="FFFF00"/>
                </a:solidFill>
              </a:rPr>
              <a:t>Source: </a:t>
            </a:r>
            <a:r>
              <a:rPr lang="en-US" sz="2200" b="1" dirty="0">
                <a:solidFill>
                  <a:schemeClr val="bg1"/>
                </a:solidFill>
              </a:rPr>
              <a:t>The project uses data from a study published </a:t>
            </a:r>
            <a:r>
              <a:rPr lang="en-US" sz="2200" b="1" dirty="0" smtClean="0">
                <a:solidFill>
                  <a:schemeClr val="bg1"/>
                </a:solidFill>
              </a:rPr>
              <a:t>in </a:t>
            </a:r>
            <a:r>
              <a:rPr lang="en-US" sz="2200" b="1" dirty="0" err="1" smtClean="0">
                <a:solidFill>
                  <a:schemeClr val="bg1"/>
                </a:solidFill>
              </a:rPr>
              <a:t>Kaggle</a:t>
            </a:r>
            <a:r>
              <a:rPr lang="en-US" sz="2200" b="1" dirty="0" smtClean="0">
                <a:solidFill>
                  <a:schemeClr val="bg1"/>
                </a:solidFill>
              </a:rPr>
              <a:t>, </a:t>
            </a:r>
            <a:r>
              <a:rPr lang="en-US" sz="2200" b="1" dirty="0">
                <a:solidFill>
                  <a:schemeClr val="bg1"/>
                </a:solidFill>
              </a:rPr>
              <a:t>which includes a comprehensive dataset from four different hospitals.</a:t>
            </a:r>
          </a:p>
          <a:p>
            <a:pPr marL="342900" indent="-342900" algn="just">
              <a:buFont typeface="Wingdings" panose="05000000000000000000" pitchFamily="2" charset="2"/>
              <a:buChar char="q"/>
            </a:pPr>
            <a:endParaRPr lang="en-US" sz="2200" b="1" dirty="0">
              <a:solidFill>
                <a:schemeClr val="bg1"/>
              </a:solidFill>
            </a:endParaRPr>
          </a:p>
          <a:p>
            <a:pPr marL="342900" indent="-342900" algn="just">
              <a:buFont typeface="Wingdings" panose="05000000000000000000" pitchFamily="2" charset="2"/>
              <a:buChar char="q"/>
            </a:pPr>
            <a:r>
              <a:rPr lang="en-US" sz="2200" b="1" dirty="0">
                <a:solidFill>
                  <a:srgbClr val="FFFF00"/>
                </a:solidFill>
              </a:rPr>
              <a:t>Total Records: </a:t>
            </a:r>
            <a:r>
              <a:rPr lang="en-US" sz="2200" b="1" dirty="0" smtClean="0">
                <a:solidFill>
                  <a:schemeClr val="bg1"/>
                </a:solidFill>
              </a:rPr>
              <a:t>The </a:t>
            </a:r>
            <a:r>
              <a:rPr lang="en-US" sz="2200" b="1" dirty="0">
                <a:solidFill>
                  <a:schemeClr val="bg1"/>
                </a:solidFill>
              </a:rPr>
              <a:t>dataset from the </a:t>
            </a:r>
            <a:r>
              <a:rPr lang="en-US" sz="2200" b="1" dirty="0" err="1" smtClean="0">
                <a:solidFill>
                  <a:schemeClr val="bg1"/>
                </a:solidFill>
              </a:rPr>
              <a:t>kaggle</a:t>
            </a:r>
            <a:r>
              <a:rPr lang="en-US" sz="2200" b="1" dirty="0">
                <a:solidFill>
                  <a:schemeClr val="bg1"/>
                </a:solidFill>
              </a:rPr>
              <a:t> </a:t>
            </a:r>
            <a:r>
              <a:rPr lang="en-US" sz="2200" b="1" dirty="0" smtClean="0">
                <a:solidFill>
                  <a:schemeClr val="bg1"/>
                </a:solidFill>
              </a:rPr>
              <a:t>contains </a:t>
            </a:r>
            <a:r>
              <a:rPr lang="en-US" sz="2200" b="1" dirty="0">
                <a:solidFill>
                  <a:schemeClr val="bg1"/>
                </a:solidFill>
              </a:rPr>
              <a:t>a total of </a:t>
            </a:r>
            <a:r>
              <a:rPr lang="en-US" sz="2200" b="1" i="1" u="sng" dirty="0" smtClean="0">
                <a:solidFill>
                  <a:schemeClr val="bg1"/>
                </a:solidFill>
              </a:rPr>
              <a:t>5843 records in which are giving training for the model with specific records</a:t>
            </a:r>
            <a:r>
              <a:rPr lang="en-US" sz="2200" b="1" dirty="0" smtClean="0">
                <a:solidFill>
                  <a:schemeClr val="bg1"/>
                </a:solidFill>
              </a:rPr>
              <a:t>.</a:t>
            </a:r>
            <a:endParaRPr lang="en-US" sz="2200" b="1" dirty="0">
              <a:solidFill>
                <a:schemeClr val="bg1"/>
              </a:solidFill>
            </a:endParaRPr>
          </a:p>
          <a:p>
            <a:pPr algn="just"/>
            <a:endParaRPr lang="en-US" sz="2200" b="1" dirty="0">
              <a:solidFill>
                <a:schemeClr val="bg1"/>
              </a:solidFill>
            </a:endParaRPr>
          </a:p>
          <a:p>
            <a:pPr marL="342900" indent="-342900" algn="just">
              <a:buFont typeface="Wingdings" panose="05000000000000000000" pitchFamily="2" charset="2"/>
              <a:buChar char="q"/>
            </a:pPr>
            <a:r>
              <a:rPr lang="en-US" sz="2200" b="1" dirty="0">
                <a:solidFill>
                  <a:srgbClr val="FFFF00"/>
                </a:solidFill>
              </a:rPr>
              <a:t>Key Features: </a:t>
            </a:r>
            <a:r>
              <a:rPr lang="en-US" sz="2200" b="1" dirty="0">
                <a:solidFill>
                  <a:schemeClr val="bg1"/>
                </a:solidFill>
              </a:rPr>
              <a:t>The dataset includes crucial features for predicting childbirth mode such as </a:t>
            </a:r>
            <a:r>
              <a:rPr lang="en-US" sz="2200" b="1" i="1" u="sng" dirty="0">
                <a:solidFill>
                  <a:schemeClr val="bg1"/>
                </a:solidFill>
              </a:rPr>
              <a:t>maternal age</a:t>
            </a:r>
            <a:r>
              <a:rPr lang="en-US" sz="2200" b="1" i="1" dirty="0">
                <a:solidFill>
                  <a:schemeClr val="bg1"/>
                </a:solidFill>
              </a:rPr>
              <a:t>, </a:t>
            </a:r>
            <a:r>
              <a:rPr lang="en-US" sz="2200" b="1" i="1" u="sng" dirty="0">
                <a:solidFill>
                  <a:schemeClr val="bg1"/>
                </a:solidFill>
              </a:rPr>
              <a:t>BMI</a:t>
            </a:r>
            <a:r>
              <a:rPr lang="en-US" sz="2200" b="1" i="1" dirty="0">
                <a:solidFill>
                  <a:schemeClr val="bg1"/>
                </a:solidFill>
              </a:rPr>
              <a:t>, </a:t>
            </a:r>
            <a:r>
              <a:rPr lang="en-US" sz="2200" b="1" i="1" u="sng" dirty="0">
                <a:solidFill>
                  <a:schemeClr val="bg1"/>
                </a:solidFill>
              </a:rPr>
              <a:t>gestational age</a:t>
            </a:r>
            <a:r>
              <a:rPr lang="en-US" sz="2200" b="1" i="1" dirty="0">
                <a:solidFill>
                  <a:schemeClr val="bg1"/>
                </a:solidFill>
              </a:rPr>
              <a:t>, </a:t>
            </a:r>
            <a:r>
              <a:rPr lang="en-US" sz="2200" b="1" i="1" u="sng" dirty="0">
                <a:solidFill>
                  <a:schemeClr val="bg1"/>
                </a:solidFill>
              </a:rPr>
              <a:t>previous delivery history</a:t>
            </a:r>
            <a:r>
              <a:rPr lang="en-US" sz="2200" b="1" dirty="0">
                <a:solidFill>
                  <a:schemeClr val="bg1"/>
                </a:solidFill>
              </a:rPr>
              <a:t>, and other clinical and health indicators.</a:t>
            </a:r>
          </a:p>
          <a:p>
            <a:pPr marL="342900" indent="-342900" algn="just">
              <a:buFont typeface="Wingdings" panose="05000000000000000000" pitchFamily="2" charset="2"/>
              <a:buChar char="q"/>
            </a:pPr>
            <a:endParaRPr lang="en-US" sz="2200" b="1" dirty="0">
              <a:solidFill>
                <a:schemeClr val="bg1"/>
              </a:solidFill>
            </a:endParaRPr>
          </a:p>
          <a:p>
            <a:pPr marL="342900" indent="-342900" algn="just">
              <a:buFont typeface="Wingdings" panose="05000000000000000000" pitchFamily="2" charset="2"/>
              <a:buChar char="q"/>
            </a:pPr>
            <a:r>
              <a:rPr lang="en-US" sz="2200" b="1" dirty="0">
                <a:solidFill>
                  <a:srgbClr val="FFFF00"/>
                </a:solidFill>
              </a:rPr>
              <a:t>Objective: </a:t>
            </a:r>
            <a:r>
              <a:rPr lang="en-US" sz="2200" b="1" dirty="0">
                <a:solidFill>
                  <a:schemeClr val="bg1"/>
                </a:solidFill>
              </a:rPr>
              <a:t>This robust dataset serves as the foundation for training and testing the machine learning models to ensure accurate and reliable predictions.</a:t>
            </a:r>
            <a:endParaRPr lang="en-US" sz="2200" dirty="0">
              <a:solidFill>
                <a:schemeClr val="bg1"/>
              </a:solidFill>
            </a:endParaRPr>
          </a:p>
        </p:txBody>
      </p:sp>
      <p:sp>
        <p:nvSpPr>
          <p:cNvPr id="6" name="Slide Number Placeholder 5">
            <a:extLst>
              <a:ext uri="{FF2B5EF4-FFF2-40B4-BE49-F238E27FC236}">
                <a16:creationId xmlns:a16="http://schemas.microsoft.com/office/drawing/2014/main" id="{CEBB12A6-ACF1-5A29-4166-767C827507D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848691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5ACA8-5CE9-3DF7-73A8-E005B1CAAE27}"/>
              </a:ext>
            </a:extLst>
          </p:cNvPr>
          <p:cNvSpPr>
            <a:spLocks noGrp="1"/>
          </p:cNvSpPr>
          <p:nvPr>
            <p:ph type="ctrTitle"/>
          </p:nvPr>
        </p:nvSpPr>
        <p:spPr>
          <a:xfrm>
            <a:off x="1279885" y="441324"/>
            <a:ext cx="4765316" cy="768351"/>
          </a:xfrm>
        </p:spPr>
        <p:txBody>
          <a:bodyPr/>
          <a:lstStyle/>
          <a:p>
            <a:r>
              <a:rPr lang="en-US" sz="3600" u="sng" dirty="0">
                <a:solidFill>
                  <a:srgbClr val="FFFF00"/>
                </a:solidFill>
              </a:rPr>
              <a:t>Snapshot of Dataset</a:t>
            </a:r>
            <a:endParaRPr lang="en-IN" sz="3600" u="sng" dirty="0">
              <a:solidFill>
                <a:srgbClr val="FFFF00"/>
              </a:solidFill>
            </a:endParaRPr>
          </a:p>
        </p:txBody>
      </p:sp>
      <p:sp>
        <p:nvSpPr>
          <p:cNvPr id="4" name="Slide Number Placeholder 3">
            <a:extLst>
              <a:ext uri="{FF2B5EF4-FFF2-40B4-BE49-F238E27FC236}">
                <a16:creationId xmlns:a16="http://schemas.microsoft.com/office/drawing/2014/main" id="{28997303-2943-4DA0-7177-83C81D4433E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pic>
        <p:nvPicPr>
          <p:cNvPr id="3" name="Picture 2"/>
          <p:cNvPicPr>
            <a:picLocks noChangeAspect="1"/>
          </p:cNvPicPr>
          <p:nvPr/>
        </p:nvPicPr>
        <p:blipFill>
          <a:blip r:embed="rId2"/>
          <a:stretch>
            <a:fillRect/>
          </a:stretch>
        </p:blipFill>
        <p:spPr>
          <a:xfrm>
            <a:off x="70209" y="0"/>
            <a:ext cx="1209675" cy="1209675"/>
          </a:xfrm>
          <a:prstGeom prst="rect">
            <a:avLst/>
          </a:prstGeom>
        </p:spPr>
      </p:pic>
      <p:pic>
        <p:nvPicPr>
          <p:cNvPr id="7" name="Picture 2" descr="Major Changes In VTU's Schemes - Careerindia">
            <a:extLst>
              <a:ext uri="{FF2B5EF4-FFF2-40B4-BE49-F238E27FC236}">
                <a16:creationId xmlns:a16="http://schemas.microsoft.com/office/drawing/2014/main" id="{8B5D1C6D-6FFC-49E6-290B-34C30263A3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stretch>
            <a:fillRect/>
          </a:stretch>
        </p:blipFill>
        <p:spPr>
          <a:xfrm>
            <a:off x="1800837" y="1924275"/>
            <a:ext cx="8488727" cy="3118428"/>
          </a:xfrm>
          <a:prstGeom prst="rect">
            <a:avLst/>
          </a:prstGeom>
        </p:spPr>
      </p:pic>
    </p:spTree>
    <p:extLst>
      <p:ext uri="{BB962C8B-B14F-4D97-AF65-F5344CB8AC3E}">
        <p14:creationId xmlns:p14="http://schemas.microsoft.com/office/powerpoint/2010/main" val="3286105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
          <a:extLst>
            <a:ext uri="{FF2B5EF4-FFF2-40B4-BE49-F238E27FC236}">
              <a16:creationId xmlns:a16="http://schemas.microsoft.com/office/drawing/2014/main" id="{C3E0A778-E845-355D-6BFC-2D21B94D26FA}"/>
            </a:ext>
          </a:extLst>
        </p:cNvPr>
        <p:cNvGrpSpPr/>
        <p:nvPr/>
      </p:nvGrpSpPr>
      <p:grpSpPr>
        <a:xfrm>
          <a:off x="0" y="0"/>
          <a:ext cx="0" cy="0"/>
          <a:chOff x="0" y="0"/>
          <a:chExt cx="0" cy="0"/>
        </a:xfrm>
      </p:grpSpPr>
      <p:sp>
        <p:nvSpPr>
          <p:cNvPr id="38" name="Google Shape;38;p3">
            <a:extLst>
              <a:ext uri="{FF2B5EF4-FFF2-40B4-BE49-F238E27FC236}">
                <a16:creationId xmlns:a16="http://schemas.microsoft.com/office/drawing/2014/main" id="{B761ED1A-91D1-D817-5633-1BDE2A94FC2A}"/>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pic>
        <p:nvPicPr>
          <p:cNvPr id="2050" name="Picture 2" descr="Major Changes In VTU's Schemes - Careerindia">
            <a:extLst>
              <a:ext uri="{FF2B5EF4-FFF2-40B4-BE49-F238E27FC236}">
                <a16:creationId xmlns:a16="http://schemas.microsoft.com/office/drawing/2014/main" id="{5E33CEB4-28F1-E7A1-D267-64D944AC00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KBK COLLEGE OF ENGINEERING (HKBKCE) BANGALORE Reviews | Address ...">
            <a:extLst>
              <a:ext uri="{FF2B5EF4-FFF2-40B4-BE49-F238E27FC236}">
                <a16:creationId xmlns:a16="http://schemas.microsoft.com/office/drawing/2014/main" id="{DB053F02-3EDC-8D53-3CC6-01BAC4D8C9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42C25AB-DD60-73F3-2F8E-BC1EF2C102A6}"/>
              </a:ext>
            </a:extLst>
          </p:cNvPr>
          <p:cNvSpPr txBox="1"/>
          <p:nvPr/>
        </p:nvSpPr>
        <p:spPr>
          <a:xfrm>
            <a:off x="1197870" y="457285"/>
            <a:ext cx="7189046" cy="646331"/>
          </a:xfrm>
          <a:prstGeom prst="rect">
            <a:avLst/>
          </a:prstGeom>
          <a:noFill/>
        </p:spPr>
        <p:txBody>
          <a:bodyPr wrap="square">
            <a:spAutoFit/>
          </a:bodyPr>
          <a:lstStyle/>
          <a:p>
            <a:r>
              <a:rPr lang="en-US" sz="3600" u="sng" dirty="0">
                <a:solidFill>
                  <a:srgbClr val="FFFF00"/>
                </a:solidFill>
              </a:rPr>
              <a:t>Literature Survey</a:t>
            </a:r>
            <a:endParaRPr lang="en-US" sz="2800" b="1" u="sng" dirty="0">
              <a:solidFill>
                <a:srgbClr val="FFFF00"/>
              </a:solidFill>
            </a:endParaRPr>
          </a:p>
        </p:txBody>
      </p:sp>
      <p:sp>
        <p:nvSpPr>
          <p:cNvPr id="2" name="Rectangle 1">
            <a:extLst>
              <a:ext uri="{FF2B5EF4-FFF2-40B4-BE49-F238E27FC236}">
                <a16:creationId xmlns:a16="http://schemas.microsoft.com/office/drawing/2014/main" id="{4AC6CB13-DDFD-45F4-BDDE-7D30A147A226}"/>
              </a:ext>
            </a:extLst>
          </p:cNvPr>
          <p:cNvSpPr>
            <a:spLocks noChangeArrowheads="1"/>
          </p:cNvSpPr>
          <p:nvPr/>
        </p:nvSpPr>
        <p:spPr bwMode="auto">
          <a:xfrm>
            <a:off x="593606" y="1269774"/>
            <a:ext cx="11096949" cy="506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300" b="1" i="1" dirty="0">
                <a:solidFill>
                  <a:schemeClr val="bg1"/>
                </a:solidFill>
                <a:highlight>
                  <a:srgbClr val="000000"/>
                </a:highlight>
                <a:latin typeface="Arial" panose="020B0604020202020204" pitchFamily="34" charset="0"/>
              </a:rPr>
              <a:t> 1. Michael Owusu-Adjei et al., 2024</a:t>
            </a:r>
          </a:p>
          <a:p>
            <a:pPr lvl="0" eaLnBrk="0" fontAlgn="base" hangingPunct="0">
              <a:spcBef>
                <a:spcPct val="0"/>
              </a:spcBef>
              <a:spcAft>
                <a:spcPct val="0"/>
              </a:spcAft>
              <a:buClrTx/>
            </a:pPr>
            <a:endParaRPr lang="en-US" altLang="en-US" sz="2300" b="1" i="1" dirty="0">
              <a:solidFill>
                <a:schemeClr val="bg1"/>
              </a:solidFill>
              <a:latin typeface="Arial" panose="020B0604020202020204" pitchFamily="34" charset="0"/>
            </a:endParaRPr>
          </a:p>
          <a:p>
            <a:pPr marL="342900" lvl="0" indent="-342900" algn="just" eaLnBrk="0" fontAlgn="base" hangingPunct="0">
              <a:spcBef>
                <a:spcPct val="0"/>
              </a:spcBef>
              <a:spcAft>
                <a:spcPct val="0"/>
              </a:spcAft>
              <a:buClrTx/>
              <a:buFont typeface="Wingdings" panose="05000000000000000000" pitchFamily="2" charset="2"/>
              <a:buChar char="§"/>
            </a:pPr>
            <a:r>
              <a:rPr lang="en-US" altLang="en-US" sz="2300" dirty="0">
                <a:solidFill>
                  <a:srgbClr val="FFFF00"/>
                </a:solidFill>
                <a:latin typeface="Arial" panose="020B0604020202020204" pitchFamily="34" charset="0"/>
              </a:rPr>
              <a:t>Methods: </a:t>
            </a:r>
            <a:r>
              <a:rPr lang="en-US" altLang="en-US" sz="2300" dirty="0">
                <a:solidFill>
                  <a:schemeClr val="bg1"/>
                </a:solidFill>
                <a:latin typeface="Arial" panose="020B0604020202020204" pitchFamily="34" charset="0"/>
              </a:rPr>
              <a:t>This study uses an AI-based approach to predict delivery outcomes based on measurable maternal features, including real-time data from partographs. They evaluated three supervised learning techniques: Gradient Boosting, Logistic Regression, and Random Forest. The Logistic Regression model achieved the highest accuracy, at </a:t>
            </a:r>
            <a:r>
              <a:rPr lang="en-US" altLang="en-US" sz="2300" dirty="0" smtClean="0">
                <a:solidFill>
                  <a:schemeClr val="bg1"/>
                </a:solidFill>
                <a:latin typeface="Arial" panose="020B0604020202020204" pitchFamily="34" charset="0"/>
              </a:rPr>
              <a:t>91%. </a:t>
            </a:r>
            <a:r>
              <a:rPr lang="en-US" altLang="en-US" sz="2300" dirty="0">
                <a:solidFill>
                  <a:schemeClr val="bg1"/>
                </a:solidFill>
                <a:latin typeface="Arial" panose="020B0604020202020204" pitchFamily="34" charset="0"/>
              </a:rPr>
              <a:t>The research also focused on identifying the most relevant features using effective feature selection techniques.</a:t>
            </a:r>
          </a:p>
          <a:p>
            <a:pPr marL="342900" lvl="0" indent="-342900" algn="just" eaLnBrk="0" fontAlgn="base" hangingPunct="0">
              <a:spcBef>
                <a:spcPct val="0"/>
              </a:spcBef>
              <a:spcAft>
                <a:spcPct val="0"/>
              </a:spcAft>
              <a:buClrTx/>
              <a:buFont typeface="Wingdings" panose="05000000000000000000" pitchFamily="2" charset="2"/>
              <a:buChar char="§"/>
            </a:pPr>
            <a:endParaRPr lang="en-US" altLang="en-US" sz="2300" dirty="0">
              <a:solidFill>
                <a:schemeClr val="bg1"/>
              </a:solidFill>
              <a:latin typeface="Arial" panose="020B0604020202020204" pitchFamily="34" charset="0"/>
            </a:endParaRPr>
          </a:p>
          <a:p>
            <a:pPr marL="342900" lvl="0" indent="-342900" algn="just" eaLnBrk="0" fontAlgn="base" hangingPunct="0">
              <a:spcBef>
                <a:spcPct val="0"/>
              </a:spcBef>
              <a:spcAft>
                <a:spcPct val="0"/>
              </a:spcAft>
              <a:buClrTx/>
              <a:buFont typeface="Wingdings" panose="05000000000000000000" pitchFamily="2" charset="2"/>
              <a:buChar char="§"/>
            </a:pPr>
            <a:r>
              <a:rPr lang="en-US" altLang="en-US" sz="2300" dirty="0">
                <a:solidFill>
                  <a:srgbClr val="FFFF00"/>
                </a:solidFill>
                <a:latin typeface="Arial" panose="020B0604020202020204" pitchFamily="34" charset="0"/>
              </a:rPr>
              <a:t>Limitations: </a:t>
            </a:r>
            <a:r>
              <a:rPr lang="en-US" altLang="en-US" sz="2300" dirty="0">
                <a:solidFill>
                  <a:schemeClr val="bg1"/>
                </a:solidFill>
                <a:latin typeface="Arial" panose="020B0604020202020204" pitchFamily="34" charset="0"/>
              </a:rPr>
              <a:t>The study's main limitation is its small sample size of 842 participants, which may affect the generalizability of its results. Additionally, the research did not explore the potential influence of socio-economic factors, which can provide a more comprehensive understanding of maternal health outcomes.</a:t>
            </a:r>
          </a:p>
          <a:p>
            <a:pPr lvl="0" eaLnBrk="0" fontAlgn="base" hangingPunct="0">
              <a:spcBef>
                <a:spcPct val="0"/>
              </a:spcBef>
              <a:spcAft>
                <a:spcPct val="0"/>
              </a:spcAft>
              <a:buClrTx/>
              <a:buFontTx/>
              <a:buChar char="•"/>
            </a:pPr>
            <a:endParaRPr lang="en-US" altLang="en-US" sz="2400" dirty="0">
              <a:solidFill>
                <a:schemeClr val="bg1"/>
              </a:solidFill>
              <a:latin typeface="Arial" panose="020B0604020202020204" pitchFamily="34" charset="0"/>
            </a:endParaRPr>
          </a:p>
        </p:txBody>
      </p:sp>
      <p:sp>
        <p:nvSpPr>
          <p:cNvPr id="6" name="Slide Number Placeholder 5">
            <a:extLst>
              <a:ext uri="{FF2B5EF4-FFF2-40B4-BE49-F238E27FC236}">
                <a16:creationId xmlns:a16="http://schemas.microsoft.com/office/drawing/2014/main" id="{2C56F218-3277-F313-BDD9-C33E61BCD48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3998883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4926F17-BB67-D871-B769-CC256C261B20}"/>
              </a:ext>
            </a:extLst>
          </p:cNvPr>
          <p:cNvSpPr>
            <a:spLocks noGrp="1"/>
          </p:cNvSpPr>
          <p:nvPr>
            <p:ph type="subTitle" idx="1"/>
          </p:nvPr>
        </p:nvSpPr>
        <p:spPr>
          <a:xfrm>
            <a:off x="796413" y="1366683"/>
            <a:ext cx="10736826" cy="4847303"/>
          </a:xfrm>
        </p:spPr>
        <p:txBody>
          <a:bodyPr/>
          <a:lstStyle/>
          <a:p>
            <a:r>
              <a:rPr lang="en-US" sz="2400" b="1" i="1" dirty="0">
                <a:solidFill>
                  <a:schemeClr val="bg1"/>
                </a:solidFill>
                <a:highlight>
                  <a:srgbClr val="000000"/>
                </a:highlight>
                <a:latin typeface="+mn-lt"/>
              </a:rPr>
              <a:t>2. Sakshi Govind Ahire et al., 2023</a:t>
            </a:r>
            <a:r>
              <a:rPr lang="en-US" sz="2400" dirty="0">
                <a:solidFill>
                  <a:schemeClr val="bg1"/>
                </a:solidFill>
                <a:latin typeface="+mn-lt"/>
              </a:rPr>
              <a:t>    </a:t>
            </a:r>
          </a:p>
          <a:p>
            <a:pPr algn="just">
              <a:buFont typeface="Wingdings" panose="05000000000000000000" pitchFamily="2" charset="2"/>
              <a:buChar char="§"/>
            </a:pPr>
            <a:r>
              <a:rPr lang="en-US" sz="2400" dirty="0">
                <a:latin typeface="+mn-lt"/>
              </a:rPr>
              <a:t>Methods: </a:t>
            </a:r>
            <a:r>
              <a:rPr lang="en-US" sz="2400" dirty="0">
                <a:solidFill>
                  <a:schemeClr val="bg1"/>
                </a:solidFill>
                <a:latin typeface="+mn-lt"/>
              </a:rPr>
              <a:t>This research focuses on predicting delivery outcomes by analyzing measurable maternal features from a large dataset of over </a:t>
            </a:r>
            <a:r>
              <a:rPr lang="en-US" sz="2400" dirty="0" smtClean="0">
                <a:solidFill>
                  <a:schemeClr val="bg1"/>
                </a:solidFill>
                <a:latin typeface="+mn-lt"/>
              </a:rPr>
              <a:t>4,000 </a:t>
            </a:r>
            <a:r>
              <a:rPr lang="en-US" sz="2400" dirty="0">
                <a:solidFill>
                  <a:schemeClr val="bg1"/>
                </a:solidFill>
                <a:latin typeface="+mn-lt"/>
              </a:rPr>
              <a:t>birth records. The team pinpointed 32 key features that affect delivery outcomes and used various models, with the stacking classifier performing the best.    </a:t>
            </a:r>
          </a:p>
          <a:p>
            <a:pPr algn="just">
              <a:buFont typeface="Wingdings" panose="05000000000000000000" pitchFamily="2" charset="2"/>
              <a:buChar char="§"/>
            </a:pPr>
            <a:r>
              <a:rPr lang="en-US" sz="2400" dirty="0">
                <a:latin typeface="+mn-lt"/>
              </a:rPr>
              <a:t>Limitations: </a:t>
            </a:r>
            <a:r>
              <a:rPr lang="en-US" sz="2400" dirty="0">
                <a:solidFill>
                  <a:schemeClr val="bg1"/>
                </a:solidFill>
                <a:latin typeface="+mn-lt"/>
              </a:rPr>
              <a:t>The study is limited by its dataset, which is drawn from Spanish public hospitals only. This means the performance may vary with more diverse or updated datasets. Additionally, there's limited discussion on real-time deployment in clinical settings.</a:t>
            </a:r>
            <a:endParaRPr lang="en-IN" sz="2400" dirty="0">
              <a:solidFill>
                <a:schemeClr val="bg1"/>
              </a:solidFill>
              <a:latin typeface="+mn-lt"/>
            </a:endParaRPr>
          </a:p>
        </p:txBody>
      </p:sp>
      <p:sp>
        <p:nvSpPr>
          <p:cNvPr id="4" name="Slide Number Placeholder 3">
            <a:extLst>
              <a:ext uri="{FF2B5EF4-FFF2-40B4-BE49-F238E27FC236}">
                <a16:creationId xmlns:a16="http://schemas.microsoft.com/office/drawing/2014/main" id="{64589DE9-1CCE-CCB4-0788-237CC33A104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10</a:t>
            </a:fld>
            <a:endParaRPr lang="en-US"/>
          </a:p>
        </p:txBody>
      </p:sp>
      <p:sp>
        <p:nvSpPr>
          <p:cNvPr id="5" name="Title 4">
            <a:extLst>
              <a:ext uri="{FF2B5EF4-FFF2-40B4-BE49-F238E27FC236}">
                <a16:creationId xmlns:a16="http://schemas.microsoft.com/office/drawing/2014/main" id="{6E1D3124-2F4E-AFD1-24B6-51C391B12676}"/>
              </a:ext>
            </a:extLst>
          </p:cNvPr>
          <p:cNvSpPr txBox="1">
            <a:spLocks noGrp="1"/>
          </p:cNvSpPr>
          <p:nvPr>
            <p:ph type="ctrTitle"/>
          </p:nvPr>
        </p:nvSpPr>
        <p:spPr>
          <a:xfrm>
            <a:off x="1401250" y="567277"/>
            <a:ext cx="3947242" cy="646290"/>
          </a:xfrm>
          <a:prstGeom prst="rect">
            <a:avLst/>
          </a:prstGeom>
          <a:noFill/>
        </p:spPr>
        <p:txBody>
          <a:bodyPr wrap="square">
            <a:spAutoFit/>
          </a:bodyPr>
          <a:lstStyle/>
          <a:p>
            <a:r>
              <a:rPr lang="en-US" sz="3600" u="sng" dirty="0" smtClean="0">
                <a:solidFill>
                  <a:srgbClr val="FFFF00"/>
                </a:solidFill>
              </a:rPr>
              <a:t>Literature </a:t>
            </a:r>
            <a:r>
              <a:rPr lang="en-US" sz="3600" u="sng" dirty="0">
                <a:solidFill>
                  <a:srgbClr val="FFFF00"/>
                </a:solidFill>
              </a:rPr>
              <a:t>Survey</a:t>
            </a:r>
            <a:endParaRPr lang="en-US" sz="2800" b="1" u="sng" dirty="0">
              <a:solidFill>
                <a:srgbClr val="FFFF00"/>
              </a:solidFill>
            </a:endParaRPr>
          </a:p>
        </p:txBody>
      </p:sp>
      <p:pic>
        <p:nvPicPr>
          <p:cNvPr id="2" name="Picture 1"/>
          <p:cNvPicPr>
            <a:picLocks noChangeAspect="1"/>
          </p:cNvPicPr>
          <p:nvPr/>
        </p:nvPicPr>
        <p:blipFill>
          <a:blip r:embed="rId2"/>
          <a:stretch>
            <a:fillRect/>
          </a:stretch>
        </p:blipFill>
        <p:spPr>
          <a:xfrm>
            <a:off x="191575" y="157008"/>
            <a:ext cx="1209675" cy="1209675"/>
          </a:xfrm>
          <a:prstGeom prst="rect">
            <a:avLst/>
          </a:prstGeom>
        </p:spPr>
      </p:pic>
      <p:pic>
        <p:nvPicPr>
          <p:cNvPr id="6" name="Picture 2" descr="Major Changes In VTU's Schemes - Careerindia">
            <a:extLst>
              <a:ext uri="{FF2B5EF4-FFF2-40B4-BE49-F238E27FC236}">
                <a16:creationId xmlns:a16="http://schemas.microsoft.com/office/drawing/2014/main" id="{8B5D1C6D-6FFC-49E6-290B-34C30263A3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440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8036D-4B32-DFD9-DAE2-72917012172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4F5C320-83A2-F2B4-CED2-9ED5668102C3}"/>
              </a:ext>
            </a:extLst>
          </p:cNvPr>
          <p:cNvSpPr>
            <a:spLocks noGrp="1"/>
          </p:cNvSpPr>
          <p:nvPr>
            <p:ph type="subTitle" idx="1"/>
          </p:nvPr>
        </p:nvSpPr>
        <p:spPr>
          <a:xfrm>
            <a:off x="796413" y="1366683"/>
            <a:ext cx="10736826" cy="4847303"/>
          </a:xfrm>
        </p:spPr>
        <p:txBody>
          <a:bodyPr/>
          <a:lstStyle/>
          <a:p>
            <a:r>
              <a:rPr lang="en-US" sz="2400" b="1" i="1" dirty="0">
                <a:solidFill>
                  <a:schemeClr val="bg1"/>
                </a:solidFill>
                <a:highlight>
                  <a:srgbClr val="000000"/>
                </a:highlight>
                <a:latin typeface="+mn-lt"/>
              </a:rPr>
              <a:t>3. Vasiliki E. Georgakopoulou et al., 2024</a:t>
            </a:r>
            <a:endParaRPr lang="en-US" sz="2400" dirty="0">
              <a:solidFill>
                <a:schemeClr val="bg1"/>
              </a:solidFill>
              <a:highlight>
                <a:srgbClr val="000000"/>
              </a:highlight>
              <a:latin typeface="+mn-lt"/>
            </a:endParaRPr>
          </a:p>
          <a:p>
            <a:pPr algn="just">
              <a:buFont typeface="Wingdings" panose="05000000000000000000" pitchFamily="2" charset="2"/>
              <a:buChar char="§"/>
            </a:pPr>
            <a:r>
              <a:rPr lang="en-US" sz="2400" dirty="0">
                <a:latin typeface="+mn-lt"/>
              </a:rPr>
              <a:t> Methods: </a:t>
            </a:r>
            <a:r>
              <a:rPr lang="en-US" sz="2400" dirty="0">
                <a:solidFill>
                  <a:schemeClr val="bg1"/>
                </a:solidFill>
                <a:latin typeface="+mn-lt"/>
              </a:rPr>
              <a:t>This systematic review evaluated the application of AI algorithms, specifically SVM, Multilayer Perceptron (MLP), and Random Forest, to predict the mode of delivery. The research used a comprehensive clinical database of over 3</a:t>
            </a:r>
            <a:r>
              <a:rPr lang="en-US" sz="2400" dirty="0" smtClean="0">
                <a:solidFill>
                  <a:schemeClr val="bg1"/>
                </a:solidFill>
                <a:latin typeface="+mn-lt"/>
              </a:rPr>
              <a:t>,000 </a:t>
            </a:r>
            <a:r>
              <a:rPr lang="en-US" sz="2400" dirty="0">
                <a:solidFill>
                  <a:schemeClr val="bg1"/>
                </a:solidFill>
                <a:latin typeface="+mn-lt"/>
              </a:rPr>
              <a:t>records from a hospital in Spain. All three algorithms achieved an impressive accuracy of </a:t>
            </a:r>
            <a:r>
              <a:rPr lang="en-US" sz="2400" dirty="0" smtClean="0">
                <a:solidFill>
                  <a:schemeClr val="bg1"/>
                </a:solidFill>
                <a:latin typeface="+mn-lt"/>
              </a:rPr>
              <a:t>86% </a:t>
            </a:r>
            <a:r>
              <a:rPr lang="en-US" sz="2400" dirty="0">
                <a:solidFill>
                  <a:schemeClr val="bg1"/>
                </a:solidFill>
                <a:latin typeface="+mn-lt"/>
              </a:rPr>
              <a:t>or higher. </a:t>
            </a:r>
            <a:r>
              <a:rPr lang="en-US" sz="2400" dirty="0">
                <a:latin typeface="+mn-lt"/>
              </a:rPr>
              <a:t>  </a:t>
            </a:r>
          </a:p>
          <a:p>
            <a:pPr algn="just">
              <a:buFont typeface="Wingdings" panose="05000000000000000000" pitchFamily="2" charset="2"/>
              <a:buChar char="§"/>
            </a:pPr>
            <a:r>
              <a:rPr lang="en-US" sz="2400" dirty="0">
                <a:latin typeface="+mn-lt"/>
              </a:rPr>
              <a:t> Limitations: </a:t>
            </a:r>
            <a:r>
              <a:rPr lang="en-US" sz="2400" dirty="0">
                <a:solidFill>
                  <a:schemeClr val="bg1"/>
                </a:solidFill>
                <a:latin typeface="+mn-lt"/>
              </a:rPr>
              <a:t>The study highlights significant heterogeneity in study design, populations, and outcome measures across the reviewed papers. There is also a lack of standardized data collection and reporting practices. The ethical concerns and the interpretability of AI predictions remain under-addressed.</a:t>
            </a:r>
            <a:endParaRPr lang="en-IN" sz="2400" dirty="0">
              <a:solidFill>
                <a:schemeClr val="bg1"/>
              </a:solidFill>
              <a:latin typeface="+mn-lt"/>
            </a:endParaRPr>
          </a:p>
        </p:txBody>
      </p:sp>
      <p:sp>
        <p:nvSpPr>
          <p:cNvPr id="4" name="Slide Number Placeholder 3">
            <a:extLst>
              <a:ext uri="{FF2B5EF4-FFF2-40B4-BE49-F238E27FC236}">
                <a16:creationId xmlns:a16="http://schemas.microsoft.com/office/drawing/2014/main" id="{3D08DAFA-6A08-7F19-6193-B8F8037CCE1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11</a:t>
            </a:fld>
            <a:endParaRPr lang="en-US"/>
          </a:p>
        </p:txBody>
      </p:sp>
      <p:sp>
        <p:nvSpPr>
          <p:cNvPr id="5" name="Title 4">
            <a:extLst>
              <a:ext uri="{FF2B5EF4-FFF2-40B4-BE49-F238E27FC236}">
                <a16:creationId xmlns:a16="http://schemas.microsoft.com/office/drawing/2014/main" id="{066D60AF-1A4B-0E54-8B2C-0B4ADA4A1D54}"/>
              </a:ext>
            </a:extLst>
          </p:cNvPr>
          <p:cNvSpPr txBox="1">
            <a:spLocks noGrp="1"/>
          </p:cNvSpPr>
          <p:nvPr>
            <p:ph type="ctrTitle"/>
          </p:nvPr>
        </p:nvSpPr>
        <p:spPr>
          <a:xfrm>
            <a:off x="595262" y="572910"/>
            <a:ext cx="3947242" cy="646290"/>
          </a:xfrm>
          <a:prstGeom prst="rect">
            <a:avLst/>
          </a:prstGeom>
          <a:noFill/>
        </p:spPr>
        <p:txBody>
          <a:bodyPr wrap="square">
            <a:spAutoFit/>
          </a:bodyPr>
          <a:lstStyle/>
          <a:p>
            <a:r>
              <a:rPr lang="en-US" sz="3600" u="sng" dirty="0">
                <a:solidFill>
                  <a:srgbClr val="FFFF00"/>
                </a:solidFill>
              </a:rPr>
              <a:t>Literature Survey</a:t>
            </a:r>
            <a:endParaRPr lang="en-US" sz="2800" b="1" u="sng" dirty="0">
              <a:solidFill>
                <a:srgbClr val="FFFF00"/>
              </a:solidFill>
            </a:endParaRPr>
          </a:p>
        </p:txBody>
      </p:sp>
      <p:pic>
        <p:nvPicPr>
          <p:cNvPr id="6" name="Picture 2" descr="Major Changes In VTU's Schemes - Careerindia">
            <a:extLst>
              <a:ext uri="{FF2B5EF4-FFF2-40B4-BE49-F238E27FC236}">
                <a16:creationId xmlns:a16="http://schemas.microsoft.com/office/drawing/2014/main" id="{8B5D1C6D-6FFC-49E6-290B-34C30263A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3259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
          <a:extLst>
            <a:ext uri="{FF2B5EF4-FFF2-40B4-BE49-F238E27FC236}">
              <a16:creationId xmlns:a16="http://schemas.microsoft.com/office/drawing/2014/main" id="{21A85F14-CF39-C40E-9CD9-25202CFFBF46}"/>
            </a:ext>
          </a:extLst>
        </p:cNvPr>
        <p:cNvGrpSpPr/>
        <p:nvPr/>
      </p:nvGrpSpPr>
      <p:grpSpPr>
        <a:xfrm>
          <a:off x="0" y="0"/>
          <a:ext cx="0" cy="0"/>
          <a:chOff x="0" y="0"/>
          <a:chExt cx="0" cy="0"/>
        </a:xfrm>
      </p:grpSpPr>
      <p:sp>
        <p:nvSpPr>
          <p:cNvPr id="38" name="Google Shape;38;p3">
            <a:extLst>
              <a:ext uri="{FF2B5EF4-FFF2-40B4-BE49-F238E27FC236}">
                <a16:creationId xmlns:a16="http://schemas.microsoft.com/office/drawing/2014/main" id="{93165F10-C4B0-053A-2DFB-B81C6CA23B45}"/>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pic>
        <p:nvPicPr>
          <p:cNvPr id="2050" name="Picture 2" descr="Major Changes In VTU's Schemes - Careerindia">
            <a:extLst>
              <a:ext uri="{FF2B5EF4-FFF2-40B4-BE49-F238E27FC236}">
                <a16:creationId xmlns:a16="http://schemas.microsoft.com/office/drawing/2014/main" id="{8D0B7A7D-25A6-8831-287D-E4024A1D70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KBK COLLEGE OF ENGINEERING (HKBKCE) BANGALORE Reviews | Address ...">
            <a:extLst>
              <a:ext uri="{FF2B5EF4-FFF2-40B4-BE49-F238E27FC236}">
                <a16:creationId xmlns:a16="http://schemas.microsoft.com/office/drawing/2014/main" id="{8E98C3C9-7937-6F03-6A4F-1141ABC97C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A14DBF5-7DF3-85B4-8E39-956FCE092B82}"/>
              </a:ext>
            </a:extLst>
          </p:cNvPr>
          <p:cNvSpPr txBox="1"/>
          <p:nvPr/>
        </p:nvSpPr>
        <p:spPr>
          <a:xfrm>
            <a:off x="1197870" y="676275"/>
            <a:ext cx="7755193" cy="1200329"/>
          </a:xfrm>
          <a:prstGeom prst="rect">
            <a:avLst/>
          </a:prstGeom>
          <a:noFill/>
        </p:spPr>
        <p:txBody>
          <a:bodyPr wrap="square">
            <a:spAutoFit/>
          </a:bodyPr>
          <a:lstStyle/>
          <a:p>
            <a:pPr>
              <a:buNone/>
            </a:pPr>
            <a:r>
              <a:rPr lang="en-US" sz="3600" b="1" u="sng" dirty="0">
                <a:solidFill>
                  <a:srgbClr val="FFFF00"/>
                </a:solidFill>
              </a:rPr>
              <a:t>System Architecture</a:t>
            </a:r>
          </a:p>
          <a:p>
            <a:pPr>
              <a:buNone/>
            </a:pPr>
            <a:endParaRPr lang="en-US" sz="3600" b="1" u="sng" dirty="0">
              <a:solidFill>
                <a:srgbClr val="FFFF00"/>
              </a:solidFill>
            </a:endParaRPr>
          </a:p>
        </p:txBody>
      </p:sp>
      <p:sp>
        <p:nvSpPr>
          <p:cNvPr id="5" name="Slide Number Placeholder 4">
            <a:extLst>
              <a:ext uri="{FF2B5EF4-FFF2-40B4-BE49-F238E27FC236}">
                <a16:creationId xmlns:a16="http://schemas.microsoft.com/office/drawing/2014/main" id="{75FA2B66-1B9A-B238-988B-BA44AB9A8D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12</a:t>
            </a:fld>
            <a:endParaRPr lang="en-US"/>
          </a:p>
        </p:txBody>
      </p:sp>
      <p:pic>
        <p:nvPicPr>
          <p:cNvPr id="6" name="Picture 5">
            <a:extLst>
              <a:ext uri="{FF2B5EF4-FFF2-40B4-BE49-F238E27FC236}">
                <a16:creationId xmlns:a16="http://schemas.microsoft.com/office/drawing/2014/main" id="{DEC7D7B4-458F-B366-FA98-8AC6BC324F06}"/>
              </a:ext>
            </a:extLst>
          </p:cNvPr>
          <p:cNvPicPr>
            <a:picLocks noChangeAspect="1"/>
          </p:cNvPicPr>
          <p:nvPr/>
        </p:nvPicPr>
        <p:blipFill>
          <a:blip r:embed="rId5"/>
          <a:stretch>
            <a:fillRect/>
          </a:stretch>
        </p:blipFill>
        <p:spPr>
          <a:xfrm>
            <a:off x="834247" y="1464333"/>
            <a:ext cx="10354453" cy="4297773"/>
          </a:xfrm>
          <a:prstGeom prst="rect">
            <a:avLst/>
          </a:prstGeom>
        </p:spPr>
      </p:pic>
    </p:spTree>
    <p:extLst>
      <p:ext uri="{BB962C8B-B14F-4D97-AF65-F5344CB8AC3E}">
        <p14:creationId xmlns:p14="http://schemas.microsoft.com/office/powerpoint/2010/main" val="2438307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
          <a:extLst>
            <a:ext uri="{FF2B5EF4-FFF2-40B4-BE49-F238E27FC236}">
              <a16:creationId xmlns:a16="http://schemas.microsoft.com/office/drawing/2014/main" id="{06B7CBCF-9783-37EE-154C-D972B74E9790}"/>
            </a:ext>
          </a:extLst>
        </p:cNvPr>
        <p:cNvGrpSpPr/>
        <p:nvPr/>
      </p:nvGrpSpPr>
      <p:grpSpPr>
        <a:xfrm>
          <a:off x="0" y="0"/>
          <a:ext cx="0" cy="0"/>
          <a:chOff x="0" y="0"/>
          <a:chExt cx="0" cy="0"/>
        </a:xfrm>
      </p:grpSpPr>
      <p:sp>
        <p:nvSpPr>
          <p:cNvPr id="38" name="Google Shape;38;p3">
            <a:extLst>
              <a:ext uri="{FF2B5EF4-FFF2-40B4-BE49-F238E27FC236}">
                <a16:creationId xmlns:a16="http://schemas.microsoft.com/office/drawing/2014/main" id="{2055DEF9-DCAC-13FF-D44B-663ABF6706E3}"/>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pic>
        <p:nvPicPr>
          <p:cNvPr id="2050" name="Picture 2" descr="Major Changes In VTU's Schemes - Careerindia">
            <a:extLst>
              <a:ext uri="{FF2B5EF4-FFF2-40B4-BE49-F238E27FC236}">
                <a16:creationId xmlns:a16="http://schemas.microsoft.com/office/drawing/2014/main" id="{75939F38-EEEE-23B8-1FD3-96E6960EBD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KBK COLLEGE OF ENGINEERING (HKBKCE) BANGALORE Reviews | Address ...">
            <a:extLst>
              <a:ext uri="{FF2B5EF4-FFF2-40B4-BE49-F238E27FC236}">
                <a16:creationId xmlns:a16="http://schemas.microsoft.com/office/drawing/2014/main" id="{6F0A236C-2CAC-A680-73E8-9F603E243E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8922CBD-71E5-0A4C-11B0-949247FFB753}"/>
              </a:ext>
            </a:extLst>
          </p:cNvPr>
          <p:cNvSpPr txBox="1"/>
          <p:nvPr/>
        </p:nvSpPr>
        <p:spPr>
          <a:xfrm>
            <a:off x="1325689" y="548548"/>
            <a:ext cx="7755193" cy="1200329"/>
          </a:xfrm>
          <a:prstGeom prst="rect">
            <a:avLst/>
          </a:prstGeom>
          <a:noFill/>
        </p:spPr>
        <p:txBody>
          <a:bodyPr wrap="square">
            <a:spAutoFit/>
          </a:bodyPr>
          <a:lstStyle/>
          <a:p>
            <a:pPr>
              <a:buNone/>
            </a:pPr>
            <a:r>
              <a:rPr lang="en-US" sz="3600" b="1" u="sng" dirty="0">
                <a:solidFill>
                  <a:srgbClr val="FFFF00"/>
                </a:solidFill>
              </a:rPr>
              <a:t>Methodology</a:t>
            </a:r>
          </a:p>
          <a:p>
            <a:pPr>
              <a:buNone/>
            </a:pPr>
            <a:endParaRPr lang="en-US" sz="3600" b="1" dirty="0">
              <a:solidFill>
                <a:srgbClr val="FFFF00"/>
              </a:solidFill>
            </a:endParaRPr>
          </a:p>
        </p:txBody>
      </p:sp>
      <p:sp>
        <p:nvSpPr>
          <p:cNvPr id="4" name="TextBox 3">
            <a:extLst>
              <a:ext uri="{FF2B5EF4-FFF2-40B4-BE49-F238E27FC236}">
                <a16:creationId xmlns:a16="http://schemas.microsoft.com/office/drawing/2014/main" id="{7BB8DB5F-2616-1DE6-8309-04D7A23F2090}"/>
              </a:ext>
            </a:extLst>
          </p:cNvPr>
          <p:cNvSpPr txBox="1"/>
          <p:nvPr/>
        </p:nvSpPr>
        <p:spPr>
          <a:xfrm>
            <a:off x="923034" y="1592272"/>
            <a:ext cx="10664702" cy="4708981"/>
          </a:xfrm>
          <a:prstGeom prst="rect">
            <a:avLst/>
          </a:prstGeom>
          <a:noFill/>
        </p:spPr>
        <p:txBody>
          <a:bodyPr wrap="square">
            <a:spAutoFit/>
          </a:bodyPr>
          <a:lstStyle/>
          <a:p>
            <a:pPr marL="285750" indent="-285750">
              <a:buFont typeface="Wingdings" panose="05000000000000000000" pitchFamily="2" charset="2"/>
              <a:buChar char="§"/>
            </a:pPr>
            <a:r>
              <a:rPr lang="en-US" sz="2400" b="1" dirty="0">
                <a:solidFill>
                  <a:schemeClr val="bg1"/>
                </a:solidFill>
                <a:highlight>
                  <a:srgbClr val="000080"/>
                </a:highlight>
              </a:rPr>
              <a:t>Technologies Used:</a:t>
            </a:r>
          </a:p>
          <a:p>
            <a:endParaRPr lang="en-US" sz="1800" b="1" dirty="0">
              <a:solidFill>
                <a:schemeClr val="bg1"/>
              </a:solidFill>
            </a:endParaRPr>
          </a:p>
          <a:p>
            <a:pPr marL="285750" indent="-285750">
              <a:buFont typeface="Wingdings" panose="05000000000000000000" pitchFamily="2" charset="2"/>
              <a:buChar char="Ø"/>
            </a:pPr>
            <a:r>
              <a:rPr lang="en-US" sz="1800" b="1" dirty="0">
                <a:solidFill>
                  <a:schemeClr val="bg1"/>
                </a:solidFill>
              </a:rPr>
              <a:t>    </a:t>
            </a:r>
            <a:r>
              <a:rPr lang="en-US" sz="1800" b="1" dirty="0">
                <a:solidFill>
                  <a:srgbClr val="FFFF00"/>
                </a:solidFill>
              </a:rPr>
              <a:t>Frontend:</a:t>
            </a:r>
            <a:r>
              <a:rPr lang="en-US" sz="1800" b="1" dirty="0">
                <a:solidFill>
                  <a:schemeClr val="bg1"/>
                </a:solidFill>
              </a:rPr>
              <a:t> HTML, CSS, JavaScript.</a:t>
            </a:r>
          </a:p>
          <a:p>
            <a:pPr marL="285750" indent="-285750">
              <a:buFont typeface="Wingdings" panose="05000000000000000000" pitchFamily="2" charset="2"/>
              <a:buChar char="Ø"/>
            </a:pPr>
            <a:r>
              <a:rPr lang="en-US" sz="1800" b="1" dirty="0">
                <a:solidFill>
                  <a:schemeClr val="bg1"/>
                </a:solidFill>
              </a:rPr>
              <a:t>    </a:t>
            </a:r>
            <a:r>
              <a:rPr lang="en-US" sz="1800" b="1" dirty="0">
                <a:solidFill>
                  <a:srgbClr val="FFFF00"/>
                </a:solidFill>
              </a:rPr>
              <a:t>Backend:</a:t>
            </a:r>
            <a:r>
              <a:rPr lang="en-US" sz="1800" b="1" dirty="0">
                <a:solidFill>
                  <a:schemeClr val="bg1"/>
                </a:solidFill>
              </a:rPr>
              <a:t> Node.js with Express.js.</a:t>
            </a:r>
          </a:p>
          <a:p>
            <a:pPr marL="285750" indent="-285750">
              <a:buFont typeface="Wingdings" panose="05000000000000000000" pitchFamily="2" charset="2"/>
              <a:buChar char="Ø"/>
            </a:pPr>
            <a:r>
              <a:rPr lang="en-US" sz="1800" b="1" dirty="0">
                <a:solidFill>
                  <a:schemeClr val="bg1"/>
                </a:solidFill>
              </a:rPr>
              <a:t>    </a:t>
            </a:r>
            <a:r>
              <a:rPr lang="en-US" sz="1800" b="1" dirty="0">
                <a:solidFill>
                  <a:srgbClr val="FFFF00"/>
                </a:solidFill>
              </a:rPr>
              <a:t>Database:</a:t>
            </a:r>
            <a:r>
              <a:rPr lang="en-US" sz="1800" b="1" dirty="0">
                <a:solidFill>
                  <a:schemeClr val="bg1"/>
                </a:solidFill>
              </a:rPr>
              <a:t> MongoDB.</a:t>
            </a:r>
          </a:p>
          <a:p>
            <a:pPr marL="285750" indent="-285750">
              <a:buFont typeface="Wingdings" panose="05000000000000000000" pitchFamily="2" charset="2"/>
              <a:buChar char="Ø"/>
            </a:pPr>
            <a:r>
              <a:rPr lang="en-US" sz="1800" b="1" dirty="0">
                <a:solidFill>
                  <a:schemeClr val="bg1"/>
                </a:solidFill>
              </a:rPr>
              <a:t>    </a:t>
            </a:r>
            <a:r>
              <a:rPr lang="en-US" sz="1800" b="1" dirty="0">
                <a:solidFill>
                  <a:srgbClr val="FFFF00"/>
                </a:solidFill>
              </a:rPr>
              <a:t>Machine Learning:</a:t>
            </a:r>
            <a:r>
              <a:rPr lang="en-US" sz="1800" b="1" dirty="0">
                <a:solidFill>
                  <a:schemeClr val="bg1"/>
                </a:solidFill>
              </a:rPr>
              <a:t> Python (Scikit-learn, Pandas, NumPy).</a:t>
            </a:r>
          </a:p>
          <a:p>
            <a:endParaRPr lang="en-US" sz="1800" b="1" dirty="0">
              <a:solidFill>
                <a:schemeClr val="bg1"/>
              </a:solidFill>
            </a:endParaRPr>
          </a:p>
          <a:p>
            <a:endParaRPr lang="en-US" sz="1800" b="1" dirty="0">
              <a:solidFill>
                <a:schemeClr val="bg1"/>
              </a:solidFill>
            </a:endParaRPr>
          </a:p>
          <a:p>
            <a:pPr marL="285750" indent="-285750">
              <a:buFont typeface="Wingdings" panose="05000000000000000000" pitchFamily="2" charset="2"/>
              <a:buChar char="ü"/>
            </a:pPr>
            <a:endParaRPr lang="en-US" sz="1800" b="1" dirty="0">
              <a:solidFill>
                <a:schemeClr val="bg1"/>
              </a:solidFill>
            </a:endParaRPr>
          </a:p>
          <a:p>
            <a:pPr marL="285750" indent="-285750">
              <a:buFont typeface="Wingdings" panose="05000000000000000000" pitchFamily="2" charset="2"/>
              <a:buChar char="§"/>
            </a:pPr>
            <a:r>
              <a:rPr lang="en-US" sz="2400" b="1" dirty="0">
                <a:solidFill>
                  <a:schemeClr val="bg1"/>
                </a:solidFill>
                <a:highlight>
                  <a:srgbClr val="000080"/>
                </a:highlight>
              </a:rPr>
              <a:t>Algorithms &amp; Techniques:</a:t>
            </a:r>
          </a:p>
          <a:p>
            <a:pPr>
              <a:buFont typeface="Arial" panose="020B0604020202020204" pitchFamily="34" charset="0"/>
              <a:buChar char="•"/>
            </a:pPr>
            <a:endParaRPr lang="en-US" sz="1800" b="1" dirty="0">
              <a:solidFill>
                <a:schemeClr val="bg1"/>
              </a:solidFill>
            </a:endParaRPr>
          </a:p>
          <a:p>
            <a:pPr marL="285750" indent="-285750">
              <a:buFont typeface="Wingdings" panose="05000000000000000000" pitchFamily="2" charset="2"/>
              <a:buChar char="Ø"/>
            </a:pPr>
            <a:r>
              <a:rPr lang="en-US" sz="1800" b="1" dirty="0">
                <a:solidFill>
                  <a:srgbClr val="FFFF00"/>
                </a:solidFill>
              </a:rPr>
              <a:t>    Algorithm:</a:t>
            </a:r>
            <a:r>
              <a:rPr lang="en-US" sz="1800" b="1" dirty="0">
                <a:solidFill>
                  <a:schemeClr val="bg1"/>
                </a:solidFill>
              </a:rPr>
              <a:t> Random Forest for classification, chosen for its accuracy and robustness.</a:t>
            </a:r>
          </a:p>
          <a:p>
            <a:pPr marL="285750" indent="-285750">
              <a:buFont typeface="Wingdings" panose="05000000000000000000" pitchFamily="2" charset="2"/>
              <a:buChar char="Ø"/>
            </a:pPr>
            <a:endParaRPr lang="en-US" sz="1800" b="1" dirty="0">
              <a:solidFill>
                <a:schemeClr val="bg1"/>
              </a:solidFill>
            </a:endParaRPr>
          </a:p>
          <a:p>
            <a:pPr marL="285750" indent="-285750">
              <a:buFont typeface="Wingdings" panose="05000000000000000000" pitchFamily="2" charset="2"/>
              <a:buChar char="Ø"/>
            </a:pPr>
            <a:r>
              <a:rPr lang="en-US" sz="1800" b="1" dirty="0">
                <a:solidFill>
                  <a:schemeClr val="bg1"/>
                </a:solidFill>
              </a:rPr>
              <a:t>    </a:t>
            </a:r>
            <a:r>
              <a:rPr lang="en-US" sz="1800" b="1" dirty="0">
                <a:solidFill>
                  <a:srgbClr val="FFFF00"/>
                </a:solidFill>
              </a:rPr>
              <a:t>Techniques: </a:t>
            </a:r>
            <a:r>
              <a:rPr lang="en-US" sz="1800" b="1" dirty="0">
                <a:solidFill>
                  <a:schemeClr val="bg1"/>
                </a:solidFill>
              </a:rPr>
              <a:t>Data Preprocessing (cleaning, normalization), Feature Selection, Model Training &amp; Evaluation (using metrics like accuracy, precision, recall).</a:t>
            </a:r>
          </a:p>
          <a:p>
            <a:pPr>
              <a:buFont typeface="Arial" panose="020B0604020202020204" pitchFamily="34" charset="0"/>
              <a:buChar char="•"/>
            </a:pPr>
            <a:endParaRPr lang="en-US" sz="1800" b="1" dirty="0">
              <a:solidFill>
                <a:schemeClr val="bg1"/>
              </a:solidFill>
            </a:endParaRPr>
          </a:p>
        </p:txBody>
      </p:sp>
      <p:sp>
        <p:nvSpPr>
          <p:cNvPr id="5" name="Slide Number Placeholder 4">
            <a:extLst>
              <a:ext uri="{FF2B5EF4-FFF2-40B4-BE49-F238E27FC236}">
                <a16:creationId xmlns:a16="http://schemas.microsoft.com/office/drawing/2014/main" id="{5CB3AA1A-8D0A-C692-21CF-F0FCE5D2899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1649832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090A3CA-C335-696B-FBB2-7D3714AF70FB}"/>
              </a:ext>
            </a:extLst>
          </p:cNvPr>
          <p:cNvSpPr>
            <a:spLocks noGrp="1"/>
          </p:cNvSpPr>
          <p:nvPr>
            <p:ph type="subTitle" idx="1"/>
          </p:nvPr>
        </p:nvSpPr>
        <p:spPr>
          <a:xfrm>
            <a:off x="1361431" y="1061884"/>
            <a:ext cx="10201304" cy="4734232"/>
          </a:xfrm>
        </p:spPr>
        <p:txBody>
          <a:bodyPr/>
          <a:lstStyle/>
          <a:p>
            <a:pPr>
              <a:buFont typeface="Wingdings" panose="05000000000000000000" pitchFamily="2" charset="2"/>
              <a:buChar char="§"/>
            </a:pPr>
            <a:r>
              <a:rPr lang="en-US" sz="2400" b="1" dirty="0">
                <a:solidFill>
                  <a:schemeClr val="bg1"/>
                </a:solidFill>
                <a:highlight>
                  <a:srgbClr val="000080"/>
                </a:highlight>
              </a:rPr>
              <a:t>Process Flow:</a:t>
            </a:r>
          </a:p>
          <a:p>
            <a:pPr marL="66040" indent="0"/>
            <a:endParaRPr lang="en-US" sz="1100" b="1" dirty="0">
              <a:solidFill>
                <a:schemeClr val="bg1"/>
              </a:solidFill>
            </a:endParaRPr>
          </a:p>
          <a:p>
            <a:pPr>
              <a:buFont typeface="Wingdings" panose="05000000000000000000" pitchFamily="2" charset="2"/>
              <a:buChar char="Ø"/>
            </a:pPr>
            <a:r>
              <a:rPr lang="en-US" sz="2000" b="1" dirty="0">
                <a:solidFill>
                  <a:schemeClr val="bg1"/>
                </a:solidFill>
              </a:rPr>
              <a:t>    </a:t>
            </a:r>
            <a:r>
              <a:rPr lang="en-US" sz="2000" b="1" i="1" dirty="0">
                <a:solidFill>
                  <a:srgbClr val="FFFF00"/>
                </a:solidFill>
              </a:rPr>
              <a:t>Data Acquisition: </a:t>
            </a:r>
            <a:r>
              <a:rPr lang="en-US" sz="2000" b="1" dirty="0">
                <a:solidFill>
                  <a:schemeClr val="bg1"/>
                </a:solidFill>
              </a:rPr>
              <a:t>Collect patient data.</a:t>
            </a:r>
          </a:p>
          <a:p>
            <a:pPr>
              <a:buFont typeface="Wingdings" panose="05000000000000000000" pitchFamily="2" charset="2"/>
              <a:buChar char="Ø"/>
            </a:pPr>
            <a:r>
              <a:rPr lang="en-US" sz="2000" b="1" dirty="0">
                <a:solidFill>
                  <a:schemeClr val="bg1"/>
                </a:solidFill>
              </a:rPr>
              <a:t>    </a:t>
            </a:r>
            <a:r>
              <a:rPr lang="en-US" sz="2000" b="1" i="1" dirty="0">
                <a:solidFill>
                  <a:srgbClr val="FFFF00"/>
                </a:solidFill>
              </a:rPr>
              <a:t>Data Preprocessing (Python): </a:t>
            </a:r>
            <a:r>
              <a:rPr lang="en-US" sz="2000" b="1" dirty="0">
                <a:solidFill>
                  <a:schemeClr val="bg1"/>
                </a:solidFill>
              </a:rPr>
              <a:t>Clean and prepare data.</a:t>
            </a:r>
          </a:p>
          <a:p>
            <a:pPr>
              <a:buFont typeface="Wingdings" panose="05000000000000000000" pitchFamily="2" charset="2"/>
              <a:buChar char="Ø"/>
            </a:pPr>
            <a:r>
              <a:rPr lang="en-US" sz="2000" b="1" dirty="0">
                <a:solidFill>
                  <a:schemeClr val="bg1"/>
                </a:solidFill>
              </a:rPr>
              <a:t>    </a:t>
            </a:r>
            <a:r>
              <a:rPr lang="en-US" sz="2000" b="1" i="1" dirty="0">
                <a:solidFill>
                  <a:srgbClr val="FFFF00"/>
                </a:solidFill>
              </a:rPr>
              <a:t>Feature Selection (Python): </a:t>
            </a:r>
            <a:r>
              <a:rPr lang="en-US" sz="2000" b="1" dirty="0">
                <a:solidFill>
                  <a:schemeClr val="bg1"/>
                </a:solidFill>
              </a:rPr>
              <a:t>Identify key predictive features.</a:t>
            </a:r>
          </a:p>
          <a:p>
            <a:pPr>
              <a:buFont typeface="Wingdings" panose="05000000000000000000" pitchFamily="2" charset="2"/>
              <a:buChar char="Ø"/>
            </a:pPr>
            <a:r>
              <a:rPr lang="en-US" sz="2000" b="1" dirty="0">
                <a:solidFill>
                  <a:schemeClr val="bg1"/>
                </a:solidFill>
              </a:rPr>
              <a:t>    </a:t>
            </a:r>
            <a:r>
              <a:rPr lang="en-US" sz="2000" b="1" i="1" dirty="0">
                <a:solidFill>
                  <a:srgbClr val="FFFF00"/>
                </a:solidFill>
              </a:rPr>
              <a:t>Model Training (Python): </a:t>
            </a:r>
            <a:r>
              <a:rPr lang="en-US" sz="2000" b="1" dirty="0">
                <a:solidFill>
                  <a:schemeClr val="bg1"/>
                </a:solidFill>
              </a:rPr>
              <a:t>Train Random Forest model.</a:t>
            </a:r>
          </a:p>
          <a:p>
            <a:pPr>
              <a:buFont typeface="Wingdings" panose="05000000000000000000" pitchFamily="2" charset="2"/>
              <a:buChar char="Ø"/>
            </a:pPr>
            <a:r>
              <a:rPr lang="en-US" sz="2000" b="1" dirty="0">
                <a:solidFill>
                  <a:schemeClr val="bg1"/>
                </a:solidFill>
              </a:rPr>
              <a:t>    </a:t>
            </a:r>
            <a:r>
              <a:rPr lang="en-US" sz="2000" b="1" i="1" dirty="0">
                <a:solidFill>
                  <a:srgbClr val="FFFF00"/>
                </a:solidFill>
              </a:rPr>
              <a:t>Model Deployment (Node.js/Express.js): </a:t>
            </a:r>
            <a:r>
              <a:rPr lang="en-US" sz="2000" b="1" dirty="0">
                <a:solidFill>
                  <a:schemeClr val="bg1"/>
                </a:solidFill>
              </a:rPr>
              <a:t>Integrate model into backend API.</a:t>
            </a:r>
          </a:p>
          <a:p>
            <a:pPr>
              <a:buFont typeface="Wingdings" panose="05000000000000000000" pitchFamily="2" charset="2"/>
              <a:buChar char="Ø"/>
            </a:pPr>
            <a:r>
              <a:rPr lang="en-US" sz="2000" b="1" dirty="0">
                <a:solidFill>
                  <a:schemeClr val="bg1"/>
                </a:solidFill>
              </a:rPr>
              <a:t>    </a:t>
            </a:r>
            <a:r>
              <a:rPr lang="en-US" sz="2000" b="1" i="1" dirty="0">
                <a:solidFill>
                  <a:srgbClr val="FFFF00"/>
                </a:solidFill>
              </a:rPr>
              <a:t>User Interaction (Frontend): </a:t>
            </a:r>
            <a:r>
              <a:rPr lang="en-US" sz="2000" b="1" dirty="0">
                <a:solidFill>
                  <a:schemeClr val="bg1"/>
                </a:solidFill>
              </a:rPr>
              <a:t>Input data via web interface.</a:t>
            </a:r>
          </a:p>
          <a:p>
            <a:pPr>
              <a:buFont typeface="Wingdings" panose="05000000000000000000" pitchFamily="2" charset="2"/>
              <a:buChar char="Ø"/>
            </a:pPr>
            <a:r>
              <a:rPr lang="en-US" sz="2000" b="1" i="1" dirty="0">
                <a:solidFill>
                  <a:srgbClr val="FFFF00"/>
                </a:solidFill>
              </a:rPr>
              <a:t>    Prediction (Backend): </a:t>
            </a:r>
            <a:r>
              <a:rPr lang="en-US" sz="2000" b="1" dirty="0">
                <a:solidFill>
                  <a:schemeClr val="bg1"/>
                </a:solidFill>
              </a:rPr>
              <a:t>Model predicts delivery mode.</a:t>
            </a:r>
          </a:p>
          <a:p>
            <a:pPr>
              <a:buFont typeface="Wingdings" panose="05000000000000000000" pitchFamily="2" charset="2"/>
              <a:buChar char="Ø"/>
            </a:pPr>
            <a:r>
              <a:rPr lang="en-US" sz="2000" b="1" dirty="0">
                <a:solidFill>
                  <a:schemeClr val="bg1"/>
                </a:solidFill>
              </a:rPr>
              <a:t>    </a:t>
            </a:r>
            <a:r>
              <a:rPr lang="en-US" sz="2000" b="1" i="1" dirty="0">
                <a:solidFill>
                  <a:srgbClr val="FFFF00"/>
                </a:solidFill>
              </a:rPr>
              <a:t>Result Display (Frontend): </a:t>
            </a:r>
            <a:r>
              <a:rPr lang="en-US" sz="2000" b="1" dirty="0">
                <a:solidFill>
                  <a:schemeClr val="bg1"/>
                </a:solidFill>
              </a:rPr>
              <a:t>Show prediction to user.</a:t>
            </a:r>
            <a:endParaRPr lang="en-US" sz="2000" dirty="0">
              <a:solidFill>
                <a:schemeClr val="bg1"/>
              </a:solidFill>
            </a:endParaRPr>
          </a:p>
          <a:p>
            <a:endParaRPr lang="en-IN" sz="1100" dirty="0"/>
          </a:p>
        </p:txBody>
      </p:sp>
      <p:sp>
        <p:nvSpPr>
          <p:cNvPr id="4" name="Slide Number Placeholder 3">
            <a:extLst>
              <a:ext uri="{FF2B5EF4-FFF2-40B4-BE49-F238E27FC236}">
                <a16:creationId xmlns:a16="http://schemas.microsoft.com/office/drawing/2014/main" id="{F44D29B2-B838-941C-0625-FECC16BC0C5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14</a:t>
            </a:fld>
            <a:endParaRPr lang="en-US"/>
          </a:p>
        </p:txBody>
      </p:sp>
      <p:sp>
        <p:nvSpPr>
          <p:cNvPr id="10" name="Arrow: Down 9">
            <a:extLst>
              <a:ext uri="{FF2B5EF4-FFF2-40B4-BE49-F238E27FC236}">
                <a16:creationId xmlns:a16="http://schemas.microsoft.com/office/drawing/2014/main" id="{26F6ED2A-224F-4D88-F21A-20E3CB4FDF1A}"/>
              </a:ext>
            </a:extLst>
          </p:cNvPr>
          <p:cNvSpPr/>
          <p:nvPr/>
        </p:nvSpPr>
        <p:spPr>
          <a:xfrm>
            <a:off x="865239" y="2104103"/>
            <a:ext cx="314632" cy="3470787"/>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5" name="Picture 4"/>
          <p:cNvPicPr>
            <a:picLocks noChangeAspect="1"/>
          </p:cNvPicPr>
          <p:nvPr/>
        </p:nvPicPr>
        <p:blipFill>
          <a:blip r:embed="rId2"/>
          <a:stretch>
            <a:fillRect/>
          </a:stretch>
        </p:blipFill>
        <p:spPr>
          <a:xfrm>
            <a:off x="60976" y="71437"/>
            <a:ext cx="1209675" cy="1209675"/>
          </a:xfrm>
          <a:prstGeom prst="rect">
            <a:avLst/>
          </a:prstGeom>
        </p:spPr>
      </p:pic>
      <p:pic>
        <p:nvPicPr>
          <p:cNvPr id="7" name="Picture 2" descr="Major Changes In VTU's Schemes - Careerindia">
            <a:extLst>
              <a:ext uri="{FF2B5EF4-FFF2-40B4-BE49-F238E27FC236}">
                <a16:creationId xmlns:a16="http://schemas.microsoft.com/office/drawing/2014/main" id="{8B5D1C6D-6FFC-49E6-290B-34C30263A3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59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
          <a:extLst>
            <a:ext uri="{FF2B5EF4-FFF2-40B4-BE49-F238E27FC236}">
              <a16:creationId xmlns:a16="http://schemas.microsoft.com/office/drawing/2014/main" id="{C6BC29E0-DDE8-8BE9-43E9-B3296DB7B29B}"/>
            </a:ext>
          </a:extLst>
        </p:cNvPr>
        <p:cNvGrpSpPr/>
        <p:nvPr/>
      </p:nvGrpSpPr>
      <p:grpSpPr>
        <a:xfrm>
          <a:off x="0" y="0"/>
          <a:ext cx="0" cy="0"/>
          <a:chOff x="0" y="0"/>
          <a:chExt cx="0" cy="0"/>
        </a:xfrm>
      </p:grpSpPr>
      <p:sp>
        <p:nvSpPr>
          <p:cNvPr id="38" name="Google Shape;38;p3">
            <a:extLst>
              <a:ext uri="{FF2B5EF4-FFF2-40B4-BE49-F238E27FC236}">
                <a16:creationId xmlns:a16="http://schemas.microsoft.com/office/drawing/2014/main" id="{92918425-BF26-C6B5-55B0-88EE7477DEDE}"/>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pic>
        <p:nvPicPr>
          <p:cNvPr id="2050" name="Picture 2" descr="Major Changes In VTU's Schemes - Careerindia">
            <a:extLst>
              <a:ext uri="{FF2B5EF4-FFF2-40B4-BE49-F238E27FC236}">
                <a16:creationId xmlns:a16="http://schemas.microsoft.com/office/drawing/2014/main" id="{927A3031-C0B4-4B90-4E26-B97B06E1F9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KBK COLLEGE OF ENGINEERING (HKBKCE) BANGALORE Reviews | Address ...">
            <a:extLst>
              <a:ext uri="{FF2B5EF4-FFF2-40B4-BE49-F238E27FC236}">
                <a16:creationId xmlns:a16="http://schemas.microsoft.com/office/drawing/2014/main" id="{671AAEA3-9113-CC25-D9CB-6CC0B6A201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1CF029B-D671-5E43-DF41-64FDED4EC89E}"/>
              </a:ext>
            </a:extLst>
          </p:cNvPr>
          <p:cNvSpPr txBox="1"/>
          <p:nvPr/>
        </p:nvSpPr>
        <p:spPr>
          <a:xfrm>
            <a:off x="1197870" y="456215"/>
            <a:ext cx="7755193" cy="1138773"/>
          </a:xfrm>
          <a:prstGeom prst="rect">
            <a:avLst/>
          </a:prstGeom>
          <a:noFill/>
        </p:spPr>
        <p:txBody>
          <a:bodyPr wrap="square">
            <a:spAutoFit/>
          </a:bodyPr>
          <a:lstStyle/>
          <a:p>
            <a:pPr>
              <a:buNone/>
            </a:pPr>
            <a:r>
              <a:rPr lang="en-US" sz="3200" b="1" u="sng" dirty="0">
                <a:solidFill>
                  <a:srgbClr val="FFFF00"/>
                </a:solidFill>
              </a:rPr>
              <a:t>Module Description</a:t>
            </a:r>
          </a:p>
          <a:p>
            <a:pPr>
              <a:buNone/>
            </a:pPr>
            <a:endParaRPr lang="en-US" sz="3600" b="1" dirty="0">
              <a:solidFill>
                <a:srgbClr val="FFFF00"/>
              </a:solidFill>
            </a:endParaRPr>
          </a:p>
        </p:txBody>
      </p:sp>
      <p:sp>
        <p:nvSpPr>
          <p:cNvPr id="4" name="TextBox 3">
            <a:extLst>
              <a:ext uri="{FF2B5EF4-FFF2-40B4-BE49-F238E27FC236}">
                <a16:creationId xmlns:a16="http://schemas.microsoft.com/office/drawing/2014/main" id="{225003A1-183E-F279-358F-98937FBE02A0}"/>
              </a:ext>
            </a:extLst>
          </p:cNvPr>
          <p:cNvSpPr txBox="1"/>
          <p:nvPr/>
        </p:nvSpPr>
        <p:spPr>
          <a:xfrm>
            <a:off x="691556" y="1272094"/>
            <a:ext cx="10871179" cy="5016758"/>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solidFill>
                  <a:srgbClr val="FFFF00"/>
                </a:solidFill>
              </a:rPr>
              <a:t>Data Collection Module: </a:t>
            </a:r>
            <a:r>
              <a:rPr lang="en-US" sz="2000" dirty="0">
                <a:solidFill>
                  <a:schemeClr val="bg1"/>
                </a:solidFill>
              </a:rPr>
              <a:t>Gathers raw patient data, including demographic, clinical, and obstetric history, from various sources.</a:t>
            </a:r>
          </a:p>
          <a:p>
            <a:pPr marL="342900" indent="-342900" algn="just">
              <a:buFont typeface="Wingdings" panose="05000000000000000000" pitchFamily="2" charset="2"/>
              <a:buChar char="Ø"/>
            </a:pPr>
            <a:r>
              <a:rPr lang="en-US" sz="2000" dirty="0">
                <a:solidFill>
                  <a:srgbClr val="FFFF00"/>
                </a:solidFill>
              </a:rPr>
              <a:t>Data Preprocessing Module: </a:t>
            </a:r>
            <a:r>
              <a:rPr lang="en-US" sz="2000" dirty="0">
                <a:solidFill>
                  <a:schemeClr val="bg1"/>
                </a:solidFill>
              </a:rPr>
              <a:t>Cleans, transforms, and standardizes the raw data, handling missing values and preparing it for model training.</a:t>
            </a:r>
          </a:p>
          <a:p>
            <a:pPr marL="342900" indent="-342900" algn="just">
              <a:buFont typeface="Wingdings" panose="05000000000000000000" pitchFamily="2" charset="2"/>
              <a:buChar char="Ø"/>
            </a:pPr>
            <a:r>
              <a:rPr lang="en-US" sz="2000" dirty="0">
                <a:solidFill>
                  <a:srgbClr val="FFFF00"/>
                </a:solidFill>
              </a:rPr>
              <a:t>Feature Selection Module: </a:t>
            </a:r>
            <a:r>
              <a:rPr lang="en-US" sz="2000" dirty="0">
                <a:solidFill>
                  <a:schemeClr val="bg1"/>
                </a:solidFill>
              </a:rPr>
              <a:t>Identifies and selects the most relevant features from the preprocessed data to optimize model performance and reduce noise.</a:t>
            </a:r>
          </a:p>
          <a:p>
            <a:pPr marL="342900" indent="-342900" algn="just">
              <a:buFont typeface="Wingdings" panose="05000000000000000000" pitchFamily="2" charset="2"/>
              <a:buChar char="Ø"/>
            </a:pPr>
            <a:r>
              <a:rPr lang="en-US" sz="2000" dirty="0">
                <a:solidFill>
                  <a:srgbClr val="FFFF00"/>
                </a:solidFill>
              </a:rPr>
              <a:t>Machine Learning Model Training Module: </a:t>
            </a:r>
            <a:r>
              <a:rPr lang="en-US" sz="2000" dirty="0">
                <a:solidFill>
                  <a:schemeClr val="bg1"/>
                </a:solidFill>
              </a:rPr>
              <a:t>Trains the Random Forest algorithm on the prepared dataset to learn patterns for predicting childbirth modes.</a:t>
            </a:r>
          </a:p>
          <a:p>
            <a:pPr marL="342900" indent="-342900" algn="just">
              <a:buFont typeface="Wingdings" panose="05000000000000000000" pitchFamily="2" charset="2"/>
              <a:buChar char="Ø"/>
            </a:pPr>
            <a:r>
              <a:rPr lang="en-US" sz="2000" dirty="0">
                <a:solidFill>
                  <a:srgbClr val="FFFF00"/>
                </a:solidFill>
              </a:rPr>
              <a:t>Prediction Engine Module: </a:t>
            </a:r>
            <a:r>
              <a:rPr lang="en-US" sz="2000" dirty="0">
                <a:solidFill>
                  <a:schemeClr val="bg1"/>
                </a:solidFill>
              </a:rPr>
              <a:t>Utilizes the trained Random Forest model to generate real-time predictions for the mode of delivery based on new patient input.</a:t>
            </a:r>
          </a:p>
          <a:p>
            <a:pPr marL="342900" indent="-342900" algn="just">
              <a:buFont typeface="Wingdings" panose="05000000000000000000" pitchFamily="2" charset="2"/>
              <a:buChar char="Ø"/>
            </a:pPr>
            <a:r>
              <a:rPr lang="en-US" sz="2000" dirty="0">
                <a:solidFill>
                  <a:srgbClr val="FFFF00"/>
                </a:solidFill>
              </a:rPr>
              <a:t>API (Application Programming Interface) Module: </a:t>
            </a:r>
            <a:r>
              <a:rPr lang="en-US" sz="2000" dirty="0">
                <a:solidFill>
                  <a:schemeClr val="bg1"/>
                </a:solidFill>
              </a:rPr>
              <a:t>Facilitates communication between the frontend and the backend, exposing endpoints for data submission and prediction retrieval.</a:t>
            </a:r>
          </a:p>
          <a:p>
            <a:pPr marL="342900" indent="-342900" algn="just">
              <a:buFont typeface="Wingdings" panose="05000000000000000000" pitchFamily="2" charset="2"/>
              <a:buChar char="Ø"/>
            </a:pPr>
            <a:r>
              <a:rPr lang="en-US" sz="2000" dirty="0">
                <a:solidFill>
                  <a:srgbClr val="FFFF00"/>
                </a:solidFill>
              </a:rPr>
              <a:t>User Interface (UI) Module: </a:t>
            </a:r>
            <a:r>
              <a:rPr lang="en-US" sz="2000" dirty="0">
                <a:solidFill>
                  <a:schemeClr val="bg1"/>
                </a:solidFill>
              </a:rPr>
              <a:t>Provides an intuitive web-based interface (HTML, CSS, JavaScript) for healthcare professionals to input data and view predictions.</a:t>
            </a:r>
          </a:p>
          <a:p>
            <a:pPr marL="342900" indent="-342900" algn="just">
              <a:buFont typeface="Wingdings" panose="05000000000000000000" pitchFamily="2" charset="2"/>
              <a:buChar char="Ø"/>
            </a:pPr>
            <a:r>
              <a:rPr lang="en-US" sz="2000" dirty="0">
                <a:solidFill>
                  <a:srgbClr val="FFFF00"/>
                </a:solidFill>
              </a:rPr>
              <a:t>Database Management Module: </a:t>
            </a:r>
            <a:r>
              <a:rPr lang="en-US" sz="2000" dirty="0">
                <a:solidFill>
                  <a:schemeClr val="bg1"/>
                </a:solidFill>
              </a:rPr>
              <a:t>Manages the storage and retrieval of patient data and potentially model-related information using MongoDB.</a:t>
            </a:r>
          </a:p>
        </p:txBody>
      </p:sp>
      <p:sp>
        <p:nvSpPr>
          <p:cNvPr id="5" name="Slide Number Placeholder 4">
            <a:extLst>
              <a:ext uri="{FF2B5EF4-FFF2-40B4-BE49-F238E27FC236}">
                <a16:creationId xmlns:a16="http://schemas.microsoft.com/office/drawing/2014/main" id="{6C64A514-821F-73C6-1A80-EFAF1C26F3E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2817835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63506C-EEE6-A974-2CE2-969233B756A8}"/>
              </a:ext>
            </a:extLst>
          </p:cNvPr>
          <p:cNvSpPr txBox="1"/>
          <p:nvPr/>
        </p:nvSpPr>
        <p:spPr>
          <a:xfrm>
            <a:off x="1208528" y="532832"/>
            <a:ext cx="8868697" cy="1569660"/>
          </a:xfrm>
          <a:prstGeom prst="rect">
            <a:avLst/>
          </a:prstGeom>
          <a:noFill/>
        </p:spPr>
        <p:txBody>
          <a:bodyPr wrap="square">
            <a:spAutoFit/>
          </a:bodyPr>
          <a:lstStyle/>
          <a:p>
            <a:pPr>
              <a:buNone/>
            </a:pPr>
            <a:r>
              <a:rPr lang="en-US" sz="3600" b="1" u="sng" dirty="0">
                <a:solidFill>
                  <a:srgbClr val="FFFF00"/>
                </a:solidFill>
              </a:rPr>
              <a:t>Implementation</a:t>
            </a:r>
          </a:p>
          <a:p>
            <a:pPr>
              <a:buNone/>
            </a:pPr>
            <a:r>
              <a:rPr lang="en-US" sz="3600" b="1" dirty="0">
                <a:solidFill>
                  <a:srgbClr val="FFFF00"/>
                </a:solidFill>
              </a:rPr>
              <a:t>                                         </a:t>
            </a:r>
            <a:r>
              <a:rPr lang="en-US" sz="3600" b="1" dirty="0">
                <a:solidFill>
                  <a:srgbClr val="FFFF00"/>
                </a:solidFill>
                <a:highlight>
                  <a:srgbClr val="000080"/>
                </a:highlight>
              </a:rPr>
              <a:t>UI Screens</a:t>
            </a:r>
          </a:p>
          <a:p>
            <a:endParaRPr lang="en-US" sz="2400" dirty="0">
              <a:solidFill>
                <a:schemeClr val="bg1"/>
              </a:solidFill>
            </a:endParaRPr>
          </a:p>
        </p:txBody>
      </p:sp>
      <p:sp>
        <p:nvSpPr>
          <p:cNvPr id="8" name="Google Shape;38;p3">
            <a:extLst>
              <a:ext uri="{FF2B5EF4-FFF2-40B4-BE49-F238E27FC236}">
                <a16:creationId xmlns:a16="http://schemas.microsoft.com/office/drawing/2014/main" id="{95EB95DC-051D-F253-C998-661390E494FF}"/>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sp>
        <p:nvSpPr>
          <p:cNvPr id="10" name="Slide Number Placeholder 9">
            <a:extLst>
              <a:ext uri="{FF2B5EF4-FFF2-40B4-BE49-F238E27FC236}">
                <a16:creationId xmlns:a16="http://schemas.microsoft.com/office/drawing/2014/main" id="{579D4CCB-A6B0-860A-7654-3623C991B57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16</a:t>
            </a:fld>
            <a:endParaRPr lang="en-US"/>
          </a:p>
        </p:txBody>
      </p:sp>
      <p:pic>
        <p:nvPicPr>
          <p:cNvPr id="11" name="Picture 4" descr="HKBK COLLEGE OF ENGINEERING (HKBKCE) BANGALORE Reviews | Address ...">
            <a:extLst>
              <a:ext uri="{FF2B5EF4-FFF2-40B4-BE49-F238E27FC236}">
                <a16:creationId xmlns:a16="http://schemas.microsoft.com/office/drawing/2014/main" id="{FBF08A11-EA60-0199-D59E-6A85A2DAAE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Major Changes In VTU's Schemes - Careerindia">
            <a:extLst>
              <a:ext uri="{FF2B5EF4-FFF2-40B4-BE49-F238E27FC236}">
                <a16:creationId xmlns:a16="http://schemas.microsoft.com/office/drawing/2014/main" id="{2D7DF45F-A6EC-1CCF-5B09-7D1C5ED007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162C24D-0ACE-7DD5-4CF0-3956A81D374B}"/>
              </a:ext>
            </a:extLst>
          </p:cNvPr>
          <p:cNvPicPr>
            <a:picLocks noChangeAspect="1"/>
          </p:cNvPicPr>
          <p:nvPr/>
        </p:nvPicPr>
        <p:blipFill>
          <a:blip r:embed="rId4"/>
          <a:stretch>
            <a:fillRect/>
          </a:stretch>
        </p:blipFill>
        <p:spPr>
          <a:xfrm>
            <a:off x="1460500" y="1869647"/>
            <a:ext cx="9283699" cy="3973172"/>
          </a:xfrm>
          <a:prstGeom prst="rect">
            <a:avLst/>
          </a:prstGeom>
        </p:spPr>
      </p:pic>
    </p:spTree>
    <p:extLst>
      <p:ext uri="{BB962C8B-B14F-4D97-AF65-F5344CB8AC3E}">
        <p14:creationId xmlns:p14="http://schemas.microsoft.com/office/powerpoint/2010/main" val="414851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E9C1A-65DE-7372-41A1-D8F1523D530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58560C7-DD2F-087F-947B-0CF66E610C3C}"/>
              </a:ext>
            </a:extLst>
          </p:cNvPr>
          <p:cNvSpPr txBox="1"/>
          <p:nvPr/>
        </p:nvSpPr>
        <p:spPr>
          <a:xfrm>
            <a:off x="6252477" y="738960"/>
            <a:ext cx="8868697" cy="1015663"/>
          </a:xfrm>
          <a:prstGeom prst="rect">
            <a:avLst/>
          </a:prstGeom>
          <a:noFill/>
        </p:spPr>
        <p:txBody>
          <a:bodyPr wrap="square">
            <a:spAutoFit/>
          </a:bodyPr>
          <a:lstStyle/>
          <a:p>
            <a:pPr>
              <a:buNone/>
            </a:pPr>
            <a:endParaRPr lang="en-US" sz="3600" b="1" dirty="0">
              <a:solidFill>
                <a:srgbClr val="FFFF00"/>
              </a:solidFill>
              <a:highlight>
                <a:srgbClr val="000080"/>
              </a:highlight>
            </a:endParaRPr>
          </a:p>
          <a:p>
            <a:endParaRPr lang="en-US" sz="2400" dirty="0">
              <a:solidFill>
                <a:schemeClr val="bg1"/>
              </a:solidFill>
            </a:endParaRPr>
          </a:p>
        </p:txBody>
      </p:sp>
      <p:sp>
        <p:nvSpPr>
          <p:cNvPr id="8" name="Google Shape;38;p3">
            <a:extLst>
              <a:ext uri="{FF2B5EF4-FFF2-40B4-BE49-F238E27FC236}">
                <a16:creationId xmlns:a16="http://schemas.microsoft.com/office/drawing/2014/main" id="{A69CFE67-3245-258B-B32B-8D4CBA4CFCB6}"/>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sp>
        <p:nvSpPr>
          <p:cNvPr id="10" name="Slide Number Placeholder 9">
            <a:extLst>
              <a:ext uri="{FF2B5EF4-FFF2-40B4-BE49-F238E27FC236}">
                <a16:creationId xmlns:a16="http://schemas.microsoft.com/office/drawing/2014/main" id="{26D8B049-CDD2-BCAB-D8BA-F55CA874B85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17</a:t>
            </a:fld>
            <a:endParaRPr lang="en-US"/>
          </a:p>
        </p:txBody>
      </p:sp>
      <p:pic>
        <p:nvPicPr>
          <p:cNvPr id="11" name="Picture 4" descr="HKBK COLLEGE OF ENGINEERING (HKBKCE) BANGALORE Reviews | Address ...">
            <a:extLst>
              <a:ext uri="{FF2B5EF4-FFF2-40B4-BE49-F238E27FC236}">
                <a16:creationId xmlns:a16="http://schemas.microsoft.com/office/drawing/2014/main" id="{BB36F9FF-F90E-5C17-39DF-5B9394FAD7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Major Changes In VTU's Schemes - Careerindia">
            <a:extLst>
              <a:ext uri="{FF2B5EF4-FFF2-40B4-BE49-F238E27FC236}">
                <a16:creationId xmlns:a16="http://schemas.microsoft.com/office/drawing/2014/main" id="{DBE11FB7-5BA5-3457-8D71-7BF0148A2A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1197870" y="1507310"/>
            <a:ext cx="9785601" cy="4455492"/>
          </a:xfrm>
          <a:prstGeom prst="rect">
            <a:avLst/>
          </a:prstGeom>
        </p:spPr>
      </p:pic>
    </p:spTree>
    <p:extLst>
      <p:ext uri="{BB962C8B-B14F-4D97-AF65-F5344CB8AC3E}">
        <p14:creationId xmlns:p14="http://schemas.microsoft.com/office/powerpoint/2010/main" val="4090503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E9C1A-65DE-7372-41A1-D8F1523D530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58560C7-DD2F-087F-947B-0CF66E610C3C}"/>
              </a:ext>
            </a:extLst>
          </p:cNvPr>
          <p:cNvSpPr txBox="1"/>
          <p:nvPr/>
        </p:nvSpPr>
        <p:spPr>
          <a:xfrm>
            <a:off x="6252477" y="738960"/>
            <a:ext cx="8868697" cy="1015663"/>
          </a:xfrm>
          <a:prstGeom prst="rect">
            <a:avLst/>
          </a:prstGeom>
          <a:noFill/>
        </p:spPr>
        <p:txBody>
          <a:bodyPr wrap="square">
            <a:spAutoFit/>
          </a:bodyPr>
          <a:lstStyle/>
          <a:p>
            <a:pPr>
              <a:buNone/>
            </a:pPr>
            <a:endParaRPr lang="en-US" sz="3600" b="1" dirty="0">
              <a:solidFill>
                <a:srgbClr val="FFFF00"/>
              </a:solidFill>
              <a:highlight>
                <a:srgbClr val="000080"/>
              </a:highlight>
            </a:endParaRPr>
          </a:p>
          <a:p>
            <a:endParaRPr lang="en-US" sz="2400" dirty="0">
              <a:solidFill>
                <a:schemeClr val="bg1"/>
              </a:solidFill>
            </a:endParaRPr>
          </a:p>
        </p:txBody>
      </p:sp>
      <p:sp>
        <p:nvSpPr>
          <p:cNvPr id="8" name="Google Shape;38;p3">
            <a:extLst>
              <a:ext uri="{FF2B5EF4-FFF2-40B4-BE49-F238E27FC236}">
                <a16:creationId xmlns:a16="http://schemas.microsoft.com/office/drawing/2014/main" id="{A69CFE67-3245-258B-B32B-8D4CBA4CFCB6}"/>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sp>
        <p:nvSpPr>
          <p:cNvPr id="10" name="Slide Number Placeholder 9">
            <a:extLst>
              <a:ext uri="{FF2B5EF4-FFF2-40B4-BE49-F238E27FC236}">
                <a16:creationId xmlns:a16="http://schemas.microsoft.com/office/drawing/2014/main" id="{26D8B049-CDD2-BCAB-D8BA-F55CA874B85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18</a:t>
            </a:fld>
            <a:endParaRPr lang="en-US"/>
          </a:p>
        </p:txBody>
      </p:sp>
      <p:pic>
        <p:nvPicPr>
          <p:cNvPr id="11" name="Picture 4" descr="HKBK COLLEGE OF ENGINEERING (HKBKCE) BANGALORE Reviews | Address ...">
            <a:extLst>
              <a:ext uri="{FF2B5EF4-FFF2-40B4-BE49-F238E27FC236}">
                <a16:creationId xmlns:a16="http://schemas.microsoft.com/office/drawing/2014/main" id="{BB36F9FF-F90E-5C17-39DF-5B9394FAD7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Major Changes In VTU's Schemes - Careerindia">
            <a:extLst>
              <a:ext uri="{FF2B5EF4-FFF2-40B4-BE49-F238E27FC236}">
                <a16:creationId xmlns:a16="http://schemas.microsoft.com/office/drawing/2014/main" id="{DBE11FB7-5BA5-3457-8D71-7BF0148A2A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487808" y="672590"/>
            <a:ext cx="2715657" cy="461665"/>
          </a:xfrm>
          <a:prstGeom prst="rect">
            <a:avLst/>
          </a:prstGeom>
        </p:spPr>
        <p:txBody>
          <a:bodyPr wrap="square">
            <a:spAutoFit/>
          </a:bodyPr>
          <a:lstStyle/>
          <a:p>
            <a:pPr>
              <a:buNone/>
            </a:pPr>
            <a:r>
              <a:rPr lang="en-US" sz="2400" b="1" u="sng" dirty="0" smtClean="0">
                <a:solidFill>
                  <a:srgbClr val="FFFF00"/>
                </a:solidFill>
              </a:rPr>
              <a:t>Results/Output</a:t>
            </a:r>
            <a:endParaRPr lang="en-US" sz="2400" b="1" u="sng" dirty="0">
              <a:solidFill>
                <a:srgbClr val="FFFF00"/>
              </a:solidFill>
            </a:endParaRPr>
          </a:p>
        </p:txBody>
      </p:sp>
      <p:pic>
        <p:nvPicPr>
          <p:cNvPr id="2" name="Picture 1"/>
          <p:cNvPicPr>
            <a:picLocks noChangeAspect="1"/>
          </p:cNvPicPr>
          <p:nvPr/>
        </p:nvPicPr>
        <p:blipFill>
          <a:blip r:embed="rId4"/>
          <a:stretch>
            <a:fillRect/>
          </a:stretch>
        </p:blipFill>
        <p:spPr>
          <a:xfrm>
            <a:off x="881001" y="1489749"/>
            <a:ext cx="10429995" cy="4566740"/>
          </a:xfrm>
          <a:prstGeom prst="rect">
            <a:avLst/>
          </a:prstGeom>
        </p:spPr>
      </p:pic>
      <p:pic>
        <p:nvPicPr>
          <p:cNvPr id="3" name="Picture 1"/>
          <p:cNvPicPr>
            <a:picLocks noChangeAspect="1"/>
          </p:cNvPicPr>
          <p:nvPr/>
        </p:nvPicPr>
        <p:blipFill>
          <a:blip r:embed="rId4"/>
          <a:stretch>
            <a:fillRect/>
          </a:stretch>
        </p:blipFill>
        <p:spPr>
          <a:xfrm>
            <a:off x="881001" y="1489749"/>
            <a:ext cx="10429995" cy="4566740"/>
          </a:xfrm>
          <a:prstGeom prst="rect">
            <a:avLst/>
          </a:prstGeom>
        </p:spPr>
      </p:pic>
    </p:spTree>
    <p:extLst>
      <p:ext uri="{BB962C8B-B14F-4D97-AF65-F5344CB8AC3E}">
        <p14:creationId xmlns:p14="http://schemas.microsoft.com/office/powerpoint/2010/main" val="1970822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
          <a:extLst>
            <a:ext uri="{FF2B5EF4-FFF2-40B4-BE49-F238E27FC236}">
              <a16:creationId xmlns:a16="http://schemas.microsoft.com/office/drawing/2014/main" id="{A4F0A01B-76C5-15D4-10D1-CA538C710573}"/>
            </a:ext>
          </a:extLst>
        </p:cNvPr>
        <p:cNvGrpSpPr/>
        <p:nvPr/>
      </p:nvGrpSpPr>
      <p:grpSpPr>
        <a:xfrm>
          <a:off x="0" y="0"/>
          <a:ext cx="0" cy="0"/>
          <a:chOff x="0" y="0"/>
          <a:chExt cx="0" cy="0"/>
        </a:xfrm>
      </p:grpSpPr>
      <p:sp>
        <p:nvSpPr>
          <p:cNvPr id="47" name="Google Shape;47;p4">
            <a:extLst>
              <a:ext uri="{FF2B5EF4-FFF2-40B4-BE49-F238E27FC236}">
                <a16:creationId xmlns:a16="http://schemas.microsoft.com/office/drawing/2014/main" id="{CC85BFAD-82E5-15D8-21EC-A5C8A2639891}"/>
              </a:ext>
            </a:extLst>
          </p:cNvPr>
          <p:cNvSpPr txBox="1">
            <a:spLocks noGrp="1"/>
          </p:cNvSpPr>
          <p:nvPr>
            <p:ph type="subTitle" idx="1"/>
          </p:nvPr>
        </p:nvSpPr>
        <p:spPr>
          <a:xfrm>
            <a:off x="867701" y="1610901"/>
            <a:ext cx="10976716" cy="3501974"/>
          </a:xfrm>
          <a:prstGeom prst="rect">
            <a:avLst/>
          </a:prstGeom>
          <a:noFill/>
          <a:ln>
            <a:noFill/>
          </a:ln>
        </p:spPr>
        <p:txBody>
          <a:bodyPr spcFirstLastPara="1" wrap="square" lIns="91425" tIns="45700" rIns="91425" bIns="45700" anchor="t" anchorCtr="0">
            <a:noAutofit/>
          </a:bodyPr>
          <a:lstStyle/>
          <a:p>
            <a:pPr marL="0" marR="0" lvl="0" indent="0">
              <a:lnSpc>
                <a:spcPct val="115000"/>
              </a:lnSpc>
              <a:spcAft>
                <a:spcPts val="800"/>
              </a:spcAft>
              <a:buClr>
                <a:schemeClr val="bg1"/>
              </a:buClr>
              <a:buSzPct val="100000"/>
              <a:tabLst>
                <a:tab pos="457200" algn="l"/>
              </a:tabLst>
            </a:pPr>
            <a:r>
              <a:rPr lang="en-US" sz="2400" kern="100" dirty="0">
                <a:solidFill>
                  <a:schemeClr val="bg1"/>
                </a:solidFill>
                <a:effectLst/>
                <a:latin typeface="Century Gothic" panose="020B0502020202020204" pitchFamily="34" charset="0"/>
                <a:ea typeface="Aptos" panose="020B0004020202020204" pitchFamily="34" charset="0"/>
                <a:cs typeface="Times New Roman" panose="02020603050405020304" pitchFamily="18" charset="0"/>
              </a:rPr>
              <a:t> </a:t>
            </a:r>
          </a:p>
        </p:txBody>
      </p:sp>
      <p:sp>
        <p:nvSpPr>
          <p:cNvPr id="48" name="Google Shape;48;p4">
            <a:extLst>
              <a:ext uri="{FF2B5EF4-FFF2-40B4-BE49-F238E27FC236}">
                <a16:creationId xmlns:a16="http://schemas.microsoft.com/office/drawing/2014/main" id="{363E87A7-0CE6-910E-8C50-C76B5E35B51A}"/>
              </a:ext>
            </a:extLst>
          </p:cNvPr>
          <p:cNvSpPr txBox="1"/>
          <p:nvPr/>
        </p:nvSpPr>
        <p:spPr>
          <a:xfrm>
            <a:off x="10350500" y="292100"/>
            <a:ext cx="838200" cy="76835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fld id="{00000000-1234-1234-1234-123412341234}" type="slidenum">
              <a:rPr lang="en-US" sz="2800" b="0" i="0" u="none" strike="noStrike" cap="none">
                <a:solidFill>
                  <a:schemeClr val="lt1"/>
                </a:solidFill>
                <a:latin typeface="Century Gothic"/>
                <a:ea typeface="Century Gothic"/>
                <a:cs typeface="Century Gothic"/>
                <a:sym typeface="Century Gothic"/>
              </a:rPr>
              <a:t>19</a:t>
            </a:fld>
            <a:endParaRPr sz="1400" b="0" i="0" u="none" strike="noStrike" cap="none">
              <a:solidFill>
                <a:srgbClr val="000000"/>
              </a:solidFill>
              <a:latin typeface="Arial"/>
              <a:ea typeface="Arial"/>
              <a:cs typeface="Arial"/>
              <a:sym typeface="Arial"/>
            </a:endParaRPr>
          </a:p>
        </p:txBody>
      </p:sp>
      <p:sp>
        <p:nvSpPr>
          <p:cNvPr id="3" name="Title 2">
            <a:extLst>
              <a:ext uri="{FF2B5EF4-FFF2-40B4-BE49-F238E27FC236}">
                <a16:creationId xmlns:a16="http://schemas.microsoft.com/office/drawing/2014/main" id="{37CBDDD0-895D-F516-AE91-3A8379A7600B}"/>
              </a:ext>
            </a:extLst>
          </p:cNvPr>
          <p:cNvSpPr>
            <a:spLocks noGrp="1"/>
          </p:cNvSpPr>
          <p:nvPr>
            <p:ph type="ctrTitle"/>
          </p:nvPr>
        </p:nvSpPr>
        <p:spPr>
          <a:xfrm>
            <a:off x="842698" y="958655"/>
            <a:ext cx="9926902" cy="735747"/>
          </a:xfrm>
        </p:spPr>
        <p:txBody>
          <a:bodyPr/>
          <a:lstStyle/>
          <a:p>
            <a:r>
              <a:rPr lang="en-US" sz="4400" b="1" u="sng" dirty="0" smtClean="0">
                <a:solidFill>
                  <a:srgbClr val="FFFF00"/>
                </a:solidFill>
              </a:rPr>
              <a:t>  Demo</a:t>
            </a:r>
            <a:r>
              <a:rPr lang="en-US" sz="3200" b="1" dirty="0"/>
              <a:t/>
            </a:r>
            <a:br>
              <a:rPr lang="en-US" sz="3200" b="1" dirty="0"/>
            </a:br>
            <a:endParaRPr lang="en-US" sz="3200" dirty="0"/>
          </a:p>
        </p:txBody>
      </p:sp>
      <p:pic>
        <p:nvPicPr>
          <p:cNvPr id="2" name="Picture 1"/>
          <p:cNvPicPr>
            <a:picLocks noChangeAspect="1"/>
          </p:cNvPicPr>
          <p:nvPr/>
        </p:nvPicPr>
        <p:blipFill>
          <a:blip r:embed="rId3"/>
          <a:stretch>
            <a:fillRect/>
          </a:stretch>
        </p:blipFill>
        <p:spPr>
          <a:xfrm>
            <a:off x="842698" y="1326528"/>
            <a:ext cx="10529523" cy="4681059"/>
          </a:xfrm>
          <a:prstGeom prst="rect">
            <a:avLst/>
          </a:prstGeom>
        </p:spPr>
      </p:pic>
      <p:pic>
        <p:nvPicPr>
          <p:cNvPr id="7" name="Picture 4" descr="HKBK COLLEGE OF ENGINEERING (HKBKCE) BANGALORE Reviews | Address ...">
            <a:extLst>
              <a:ext uri="{FF2B5EF4-FFF2-40B4-BE49-F238E27FC236}">
                <a16:creationId xmlns:a16="http://schemas.microsoft.com/office/drawing/2014/main" id="{061C3649-C2BF-DDFF-8599-27584143B7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Major Changes In VTU's Schemes - Careerindia">
            <a:extLst>
              <a:ext uri="{FF2B5EF4-FFF2-40B4-BE49-F238E27FC236}">
                <a16:creationId xmlns:a16="http://schemas.microsoft.com/office/drawing/2014/main" id="{8B5D1C6D-6FFC-49E6-290B-34C30263A3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1239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21424-757A-47FC-7BEC-96949BE9AC3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B4D2BD9-A404-7BF2-7394-EA52F02AE0B7}"/>
              </a:ext>
            </a:extLst>
          </p:cNvPr>
          <p:cNvSpPr txBox="1"/>
          <p:nvPr/>
        </p:nvSpPr>
        <p:spPr>
          <a:xfrm>
            <a:off x="1197870" y="565006"/>
            <a:ext cx="10109227" cy="5816977"/>
          </a:xfrm>
          <a:prstGeom prst="rect">
            <a:avLst/>
          </a:prstGeom>
          <a:noFill/>
        </p:spPr>
        <p:txBody>
          <a:bodyPr wrap="square">
            <a:spAutoFit/>
          </a:bodyPr>
          <a:lstStyle/>
          <a:p>
            <a:pPr>
              <a:buNone/>
            </a:pPr>
            <a:r>
              <a:rPr lang="en-US" sz="3600" b="1" u="sng" dirty="0">
                <a:solidFill>
                  <a:srgbClr val="FFFF00"/>
                </a:solidFill>
              </a:rPr>
              <a:t>Conclusion</a:t>
            </a:r>
          </a:p>
          <a:p>
            <a:pPr>
              <a:buNone/>
            </a:pPr>
            <a:endParaRPr lang="en-US" sz="2400" dirty="0">
              <a:solidFill>
                <a:srgbClr val="FFFF00"/>
              </a:solidFill>
            </a:endParaRPr>
          </a:p>
          <a:p>
            <a:pPr algn="just">
              <a:buNone/>
            </a:pPr>
            <a:r>
              <a:rPr lang="en-US" sz="2800" dirty="0">
                <a:solidFill>
                  <a:srgbClr val="FFFF00"/>
                </a:solidFill>
              </a:rPr>
              <a:t>      </a:t>
            </a:r>
            <a:r>
              <a:rPr lang="en-US" sz="2800" dirty="0">
                <a:solidFill>
                  <a:schemeClr val="bg1"/>
                </a:solidFill>
              </a:rPr>
              <a:t>This project successfully developed a machine learning-based system using Random Forest to predict obstetric delivery methods, demonstrating high accuracy with diverse patient data. The well-structured data preprocessing and feature selection, alongside a robust web-based deployment, were key to its effectiveness in providing data-driven decision support. However, limitations include the dataset's generalizability across broader populations and the current model's inability to account for real-time, dynamic external factors during labor.</a:t>
            </a:r>
          </a:p>
          <a:p>
            <a:pPr>
              <a:buNone/>
            </a:pPr>
            <a:endParaRPr lang="en-US" sz="3200" dirty="0">
              <a:solidFill>
                <a:srgbClr val="FFFF00"/>
              </a:solidFill>
            </a:endParaRPr>
          </a:p>
        </p:txBody>
      </p:sp>
      <p:sp>
        <p:nvSpPr>
          <p:cNvPr id="2" name="Google Shape;38;p3">
            <a:extLst>
              <a:ext uri="{FF2B5EF4-FFF2-40B4-BE49-F238E27FC236}">
                <a16:creationId xmlns:a16="http://schemas.microsoft.com/office/drawing/2014/main" id="{B4C659B3-2892-1165-0767-87A28BFF3D32}"/>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sp>
        <p:nvSpPr>
          <p:cNvPr id="4" name="Slide Number Placeholder 3">
            <a:extLst>
              <a:ext uri="{FF2B5EF4-FFF2-40B4-BE49-F238E27FC236}">
                <a16:creationId xmlns:a16="http://schemas.microsoft.com/office/drawing/2014/main" id="{40EF70E0-0CDE-0060-B4D4-67A22C5ED57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20</a:t>
            </a:fld>
            <a:endParaRPr lang="en-US"/>
          </a:p>
        </p:txBody>
      </p:sp>
      <p:pic>
        <p:nvPicPr>
          <p:cNvPr id="6" name="Picture 2" descr="Major Changes In VTU's Schemes - Careerindia">
            <a:extLst>
              <a:ext uri="{FF2B5EF4-FFF2-40B4-BE49-F238E27FC236}">
                <a16:creationId xmlns:a16="http://schemas.microsoft.com/office/drawing/2014/main" id="{30BA781C-DB04-03B4-DA14-ACFD2D0BCE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472" y="-73217"/>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HKBK COLLEGE OF ENGINEERING (HKBKCE) BANGALORE Reviews | Address ...">
            <a:extLst>
              <a:ext uri="{FF2B5EF4-FFF2-40B4-BE49-F238E27FC236}">
                <a16:creationId xmlns:a16="http://schemas.microsoft.com/office/drawing/2014/main" id="{1D6F0D0F-D6CD-F3DD-3703-9823E4393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57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C737F-418E-2264-FF70-07171ADBF42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3227822-8F12-9397-E18F-FA90B4C1BEED}"/>
              </a:ext>
            </a:extLst>
          </p:cNvPr>
          <p:cNvSpPr txBox="1"/>
          <p:nvPr/>
        </p:nvSpPr>
        <p:spPr>
          <a:xfrm>
            <a:off x="1197870" y="612844"/>
            <a:ext cx="9497963" cy="5632311"/>
          </a:xfrm>
          <a:prstGeom prst="rect">
            <a:avLst/>
          </a:prstGeom>
          <a:noFill/>
        </p:spPr>
        <p:txBody>
          <a:bodyPr wrap="square">
            <a:spAutoFit/>
          </a:bodyPr>
          <a:lstStyle/>
          <a:p>
            <a:pPr>
              <a:buNone/>
            </a:pPr>
            <a:r>
              <a:rPr lang="en-US" sz="3600" b="1" u="sng" dirty="0">
                <a:solidFill>
                  <a:srgbClr val="FFFF00"/>
                </a:solidFill>
              </a:rPr>
              <a:t>Future Enhancements</a:t>
            </a:r>
          </a:p>
          <a:p>
            <a:pPr>
              <a:buNone/>
            </a:pPr>
            <a:endParaRPr lang="en-US" sz="3600" b="1" dirty="0">
              <a:solidFill>
                <a:srgbClr val="FFFF00"/>
              </a:solidFill>
            </a:endParaRPr>
          </a:p>
          <a:p>
            <a:pPr marL="342900" indent="-342900" algn="just">
              <a:buFont typeface="Wingdings" panose="05000000000000000000" pitchFamily="2" charset="2"/>
              <a:buChar char="ü"/>
            </a:pPr>
            <a:r>
              <a:rPr lang="en-US" sz="2400" dirty="0">
                <a:solidFill>
                  <a:schemeClr val="bg1"/>
                </a:solidFill>
              </a:rPr>
              <a:t>    Future enhancements will prioritize integrating real-time physiological data for dynamic predictions during labor and expanding the dataset to include diverse local populations within Bengaluru, Karnataka, India, to significantly improve generalizability and relevance. </a:t>
            </a:r>
          </a:p>
          <a:p>
            <a:pPr marL="342900" indent="-342900" algn="just">
              <a:buFont typeface="Wingdings" panose="05000000000000000000" pitchFamily="2" charset="2"/>
              <a:buChar char="ü"/>
            </a:pPr>
            <a:r>
              <a:rPr lang="en-US" sz="2400" dirty="0">
                <a:solidFill>
                  <a:schemeClr val="bg1"/>
                </a:solidFill>
              </a:rPr>
              <a:t>       We also plan to optimize the system's scalability and performance for faster responses within clinical environments and enhance the User Interface (UI) for intuitive use by local healthcare professionals. Additionally, we will focus on seamless integration with existing Hospital Information Systems (HIS) prevalent in the region to ensure practical applicability and streamlined workflows.</a:t>
            </a:r>
          </a:p>
        </p:txBody>
      </p:sp>
      <p:sp>
        <p:nvSpPr>
          <p:cNvPr id="2" name="Google Shape;38;p3">
            <a:extLst>
              <a:ext uri="{FF2B5EF4-FFF2-40B4-BE49-F238E27FC236}">
                <a16:creationId xmlns:a16="http://schemas.microsoft.com/office/drawing/2014/main" id="{3E0AF4B4-E3D1-3B2A-87D6-303421FA541D}"/>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sp>
        <p:nvSpPr>
          <p:cNvPr id="4" name="Slide Number Placeholder 3">
            <a:extLst>
              <a:ext uri="{FF2B5EF4-FFF2-40B4-BE49-F238E27FC236}">
                <a16:creationId xmlns:a16="http://schemas.microsoft.com/office/drawing/2014/main" id="{83749F65-5A4C-6962-4CF2-0CAEDB1128A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21</a:t>
            </a:fld>
            <a:endParaRPr lang="en-US"/>
          </a:p>
        </p:txBody>
      </p:sp>
      <p:pic>
        <p:nvPicPr>
          <p:cNvPr id="6" name="Picture 2" descr="Major Changes In VTU's Schemes - Careerindia">
            <a:extLst>
              <a:ext uri="{FF2B5EF4-FFF2-40B4-BE49-F238E27FC236}">
                <a16:creationId xmlns:a16="http://schemas.microsoft.com/office/drawing/2014/main" id="{2F88DC2B-A6DE-30AA-08CD-2AA526E0AE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HKBK COLLEGE OF ENGINEERING (HKBKCE) BANGALORE Reviews | Address ...">
            <a:extLst>
              <a:ext uri="{FF2B5EF4-FFF2-40B4-BE49-F238E27FC236}">
                <a16:creationId xmlns:a16="http://schemas.microsoft.com/office/drawing/2014/main" id="{E8BAF389-75B2-B544-35B5-3974E76628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460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F41DF-8942-A8A8-AA9A-98ED78E49F3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8A8F532-A257-3985-9F3C-079F7318166C}"/>
              </a:ext>
            </a:extLst>
          </p:cNvPr>
          <p:cNvSpPr txBox="1"/>
          <p:nvPr/>
        </p:nvSpPr>
        <p:spPr>
          <a:xfrm>
            <a:off x="1197870" y="532832"/>
            <a:ext cx="9686440" cy="6494085"/>
          </a:xfrm>
          <a:prstGeom prst="rect">
            <a:avLst/>
          </a:prstGeom>
          <a:noFill/>
        </p:spPr>
        <p:txBody>
          <a:bodyPr wrap="square">
            <a:spAutoFit/>
          </a:bodyPr>
          <a:lstStyle/>
          <a:p>
            <a:pPr>
              <a:buNone/>
            </a:pPr>
            <a:r>
              <a:rPr lang="en-US" sz="3600" b="1" u="sng" dirty="0">
                <a:solidFill>
                  <a:srgbClr val="FFFF00"/>
                </a:solidFill>
              </a:rPr>
              <a:t>References</a:t>
            </a:r>
          </a:p>
          <a:p>
            <a:pPr>
              <a:buNone/>
            </a:pPr>
            <a:endParaRPr lang="en-US" sz="3600" b="1" dirty="0">
              <a:solidFill>
                <a:schemeClr val="bg1"/>
              </a:solidFill>
            </a:endParaRPr>
          </a:p>
          <a:p>
            <a:r>
              <a:rPr lang="en-IN" sz="2000" dirty="0">
                <a:solidFill>
                  <a:schemeClr val="bg1"/>
                </a:solidFill>
              </a:rPr>
              <a:t>[1] An AI-based approach to predict delivery outcome based on measurable factors of pregnant mothers Michael Owusu- Adjei et al., 2024.</a:t>
            </a:r>
          </a:p>
          <a:p>
            <a:r>
              <a:rPr lang="en-IN" sz="2000" dirty="0">
                <a:solidFill>
                  <a:schemeClr val="bg1"/>
                </a:solidFill>
              </a:rPr>
              <a:t>[2] Predicting Modes of Child Birth Using Machine Learning– Sakshi Govind Ahire et al., 2023. </a:t>
            </a:r>
          </a:p>
          <a:p>
            <a:r>
              <a:rPr lang="en-IN" sz="2000" dirty="0">
                <a:solidFill>
                  <a:schemeClr val="bg1"/>
                </a:solidFill>
              </a:rPr>
              <a:t>[3] Artificial Intelligence in Predicting the Mode of Delivery: A Systematic Review– Vasiliki E. Georgakopoulou., 2024.</a:t>
            </a:r>
          </a:p>
          <a:p>
            <a:r>
              <a:rPr lang="en-IN" sz="2000" dirty="0">
                <a:solidFill>
                  <a:schemeClr val="bg1"/>
                </a:solidFill>
              </a:rPr>
              <a:t>[4] Prediction of the Mode of Delivery Using Artificial Intelligence Algorithms– Alberto De Ramón Fernández et al., 2022. </a:t>
            </a:r>
          </a:p>
          <a:p>
            <a:r>
              <a:rPr lang="en-IN" sz="2000" dirty="0">
                <a:solidFill>
                  <a:schemeClr val="bg1"/>
                </a:solidFill>
              </a:rPr>
              <a:t>[5] PREDICTING THE MODE OF CHILDBIRTH USING MACHINE LEARNING Mrs. </a:t>
            </a:r>
            <a:r>
              <a:rPr lang="en-IN" sz="2000" dirty="0" err="1">
                <a:solidFill>
                  <a:schemeClr val="bg1"/>
                </a:solidFill>
              </a:rPr>
              <a:t>M.Soumya</a:t>
            </a:r>
            <a:r>
              <a:rPr lang="en-IN" sz="2000" dirty="0">
                <a:solidFill>
                  <a:schemeClr val="bg1"/>
                </a:solidFill>
              </a:rPr>
              <a:t> , </a:t>
            </a:r>
            <a:r>
              <a:rPr lang="en-IN" sz="2000" dirty="0" err="1">
                <a:solidFill>
                  <a:schemeClr val="bg1"/>
                </a:solidFill>
              </a:rPr>
              <a:t>N.Sasi</a:t>
            </a:r>
            <a:r>
              <a:rPr lang="en-IN" sz="2000" dirty="0">
                <a:solidFill>
                  <a:schemeClr val="bg1"/>
                </a:solidFill>
              </a:rPr>
              <a:t> Priya, </a:t>
            </a:r>
            <a:r>
              <a:rPr lang="en-IN" sz="2000" dirty="0" err="1">
                <a:solidFill>
                  <a:schemeClr val="bg1"/>
                </a:solidFill>
              </a:rPr>
              <a:t>V.Namratha</a:t>
            </a:r>
            <a:r>
              <a:rPr lang="en-IN" sz="2000" dirty="0">
                <a:solidFill>
                  <a:schemeClr val="bg1"/>
                </a:solidFill>
              </a:rPr>
              <a:t> , </a:t>
            </a:r>
            <a:r>
              <a:rPr lang="en-IN" sz="2000" dirty="0" err="1">
                <a:solidFill>
                  <a:schemeClr val="bg1"/>
                </a:solidFill>
              </a:rPr>
              <a:t>S.Sonika</a:t>
            </a:r>
            <a:r>
              <a:rPr lang="en-IN" sz="2000" dirty="0">
                <a:solidFill>
                  <a:schemeClr val="bg1"/>
                </a:solidFill>
              </a:rPr>
              <a:t>, J.Venu,2023. </a:t>
            </a:r>
          </a:p>
          <a:p>
            <a:r>
              <a:rPr lang="en-US" sz="2000" dirty="0">
                <a:solidFill>
                  <a:schemeClr val="bg1"/>
                </a:solidFill>
              </a:rPr>
              <a:t>[6] Exploring Machine Learning Algorithms to Find the Best Features for Predicting Modes of Childbirth Mrs. B. Vijaya, MCA, </a:t>
            </a:r>
            <a:r>
              <a:rPr lang="en-US" sz="2000" dirty="0" err="1">
                <a:solidFill>
                  <a:schemeClr val="bg1"/>
                </a:solidFill>
              </a:rPr>
              <a:t>M.Tech</a:t>
            </a:r>
            <a:r>
              <a:rPr lang="en-US" sz="2000" dirty="0">
                <a:solidFill>
                  <a:schemeClr val="bg1"/>
                </a:solidFill>
              </a:rPr>
              <a:t> , </a:t>
            </a:r>
            <a:r>
              <a:rPr lang="en-US" sz="2000" dirty="0" err="1">
                <a:solidFill>
                  <a:schemeClr val="bg1"/>
                </a:solidFill>
              </a:rPr>
              <a:t>Bogini</a:t>
            </a:r>
            <a:r>
              <a:rPr lang="en-US" sz="2000" dirty="0">
                <a:solidFill>
                  <a:schemeClr val="bg1"/>
                </a:solidFill>
              </a:rPr>
              <a:t> Naveen Kumar ,2022.</a:t>
            </a:r>
          </a:p>
          <a:p>
            <a:r>
              <a:rPr lang="en-US" sz="2000" dirty="0">
                <a:solidFill>
                  <a:schemeClr val="bg1"/>
                </a:solidFill>
              </a:rPr>
              <a:t>[7] An AI-based approach to predict delivery outcome based on measurable factors of pregnant Mothers Michael </a:t>
            </a:r>
            <a:r>
              <a:rPr lang="en-IN" sz="2000" dirty="0">
                <a:solidFill>
                  <a:schemeClr val="bg1"/>
                </a:solidFill>
              </a:rPr>
              <a:t>Owusu- </a:t>
            </a:r>
            <a:r>
              <a:rPr lang="en-IN" sz="2000" dirty="0" err="1">
                <a:solidFill>
                  <a:schemeClr val="bg1"/>
                </a:solidFill>
              </a:rPr>
              <a:t>AdjeiID</a:t>
            </a:r>
            <a:r>
              <a:rPr lang="en-IN" sz="2000" dirty="0">
                <a:solidFill>
                  <a:schemeClr val="bg1"/>
                </a:solidFill>
              </a:rPr>
              <a:t>*, James Ben </a:t>
            </a:r>
            <a:r>
              <a:rPr lang="en-IN" sz="2000" dirty="0" err="1">
                <a:solidFill>
                  <a:schemeClr val="bg1"/>
                </a:solidFill>
              </a:rPr>
              <a:t>Hayfron</a:t>
            </a:r>
            <a:r>
              <a:rPr lang="en-IN" sz="2000" dirty="0">
                <a:solidFill>
                  <a:schemeClr val="bg1"/>
                </a:solidFill>
              </a:rPr>
              <a:t>-Acquah, Twum Frimpong, AbdulSalaam Gaddafi, 2025. </a:t>
            </a:r>
          </a:p>
          <a:p>
            <a:endParaRPr lang="en-IN" sz="2000" dirty="0">
              <a:solidFill>
                <a:schemeClr val="bg1"/>
              </a:solidFill>
            </a:endParaRPr>
          </a:p>
          <a:p>
            <a:endParaRPr lang="en-US" sz="2400" dirty="0">
              <a:solidFill>
                <a:schemeClr val="bg1"/>
              </a:solidFill>
            </a:endParaRPr>
          </a:p>
        </p:txBody>
      </p:sp>
      <p:sp>
        <p:nvSpPr>
          <p:cNvPr id="2" name="Google Shape;38;p3">
            <a:extLst>
              <a:ext uri="{FF2B5EF4-FFF2-40B4-BE49-F238E27FC236}">
                <a16:creationId xmlns:a16="http://schemas.microsoft.com/office/drawing/2014/main" id="{60509C2E-BFDF-223E-863F-A21E9E399D18}"/>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sp>
        <p:nvSpPr>
          <p:cNvPr id="6" name="Slide Number Placeholder 5">
            <a:extLst>
              <a:ext uri="{FF2B5EF4-FFF2-40B4-BE49-F238E27FC236}">
                <a16:creationId xmlns:a16="http://schemas.microsoft.com/office/drawing/2014/main" id="{ADBF68F5-DA5C-F399-8053-752E85A895C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22</a:t>
            </a:fld>
            <a:endParaRPr lang="en-US"/>
          </a:p>
        </p:txBody>
      </p:sp>
      <p:pic>
        <p:nvPicPr>
          <p:cNvPr id="7" name="Picture 2" descr="Major Changes In VTU's Schemes - Careerindia">
            <a:extLst>
              <a:ext uri="{FF2B5EF4-FFF2-40B4-BE49-F238E27FC236}">
                <a16:creationId xmlns:a16="http://schemas.microsoft.com/office/drawing/2014/main" id="{4D1AA947-3CA0-9BA5-7F05-BBF33D6F0D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KBK COLLEGE OF ENGINEERING (HKBKCE) BANGALORE Reviews | Address ...">
            <a:extLst>
              <a:ext uri="{FF2B5EF4-FFF2-40B4-BE49-F238E27FC236}">
                <a16:creationId xmlns:a16="http://schemas.microsoft.com/office/drawing/2014/main" id="{25735F0F-82F8-BA42-A529-FEB3BD0BCF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729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455CF-AC00-E7DD-7B4D-5F882503672A}"/>
            </a:ext>
          </a:extLst>
        </p:cNvPr>
        <p:cNvGrpSpPr/>
        <p:nvPr/>
      </p:nvGrpSpPr>
      <p:grpSpPr>
        <a:xfrm>
          <a:off x="0" y="0"/>
          <a:ext cx="0" cy="0"/>
          <a:chOff x="0" y="0"/>
          <a:chExt cx="0" cy="0"/>
        </a:xfrm>
      </p:grpSpPr>
      <p:sp>
        <p:nvSpPr>
          <p:cNvPr id="2" name="Google Shape;38;p3">
            <a:extLst>
              <a:ext uri="{FF2B5EF4-FFF2-40B4-BE49-F238E27FC236}">
                <a16:creationId xmlns:a16="http://schemas.microsoft.com/office/drawing/2014/main" id="{2705A80A-7BBA-83F5-2616-A018DA9C3711}"/>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sp>
        <p:nvSpPr>
          <p:cNvPr id="6" name="Slide Number Placeholder 5">
            <a:extLst>
              <a:ext uri="{FF2B5EF4-FFF2-40B4-BE49-F238E27FC236}">
                <a16:creationId xmlns:a16="http://schemas.microsoft.com/office/drawing/2014/main" id="{E3BE2198-A605-EFAE-0A78-59915BEE264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23</a:t>
            </a:fld>
            <a:endParaRPr lang="en-US"/>
          </a:p>
        </p:txBody>
      </p:sp>
      <p:pic>
        <p:nvPicPr>
          <p:cNvPr id="7" name="Picture 2" descr="Major Changes In VTU's Schemes - Careerindia">
            <a:extLst>
              <a:ext uri="{FF2B5EF4-FFF2-40B4-BE49-F238E27FC236}">
                <a16:creationId xmlns:a16="http://schemas.microsoft.com/office/drawing/2014/main" id="{D39D0B14-F11C-8BC4-333F-201399C9C6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KBK COLLEGE OF ENGINEERING (HKBKCE) BANGALORE Reviews | Address ...">
            <a:extLst>
              <a:ext uri="{FF2B5EF4-FFF2-40B4-BE49-F238E27FC236}">
                <a16:creationId xmlns:a16="http://schemas.microsoft.com/office/drawing/2014/main" id="{F25A6B8D-7FC3-F906-0D0F-32694D1F7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C8E4942-8E47-7453-BE9F-13D10E50D44A}"/>
              </a:ext>
            </a:extLst>
          </p:cNvPr>
          <p:cNvSpPr txBox="1"/>
          <p:nvPr/>
        </p:nvSpPr>
        <p:spPr>
          <a:xfrm>
            <a:off x="1311061" y="763391"/>
            <a:ext cx="9258615" cy="5355312"/>
          </a:xfrm>
          <a:prstGeom prst="rect">
            <a:avLst/>
          </a:prstGeom>
          <a:noFill/>
        </p:spPr>
        <p:txBody>
          <a:bodyPr wrap="square">
            <a:spAutoFit/>
          </a:bodyPr>
          <a:lstStyle/>
          <a:p>
            <a:r>
              <a:rPr lang="en-US" sz="1800" dirty="0">
                <a:solidFill>
                  <a:schemeClr val="bg1"/>
                </a:solidFill>
              </a:rPr>
              <a:t>[8] Predicting Maternal Health Risk Using Machine </a:t>
            </a:r>
            <a:r>
              <a:rPr lang="en-IN" sz="1800" dirty="0">
                <a:solidFill>
                  <a:schemeClr val="bg1"/>
                </a:solidFill>
              </a:rPr>
              <a:t>Learning Models And Comparing The Performance Of Percentage Split And K-Fold Cross Validation ,Aman Sharma,2024. </a:t>
            </a:r>
          </a:p>
          <a:p>
            <a:r>
              <a:rPr lang="en-IN" sz="1800" dirty="0">
                <a:solidFill>
                  <a:schemeClr val="bg1"/>
                </a:solidFill>
              </a:rPr>
              <a:t>[9] Prediction of modes of child birth using SVC P. Devika, S. Bhuvaneswari, R. Rithika, S. Swarna &amp; N. Vijitha,2025.</a:t>
            </a:r>
          </a:p>
          <a:p>
            <a:r>
              <a:rPr lang="en-IN" sz="1800" dirty="0">
                <a:solidFill>
                  <a:schemeClr val="bg1"/>
                </a:solidFill>
              </a:rPr>
              <a:t> [10] Predicting the Childbirth Mode using Exhaustive Feature Selection and Machine Learning Techniques ,Arul Natarajan , 2023. </a:t>
            </a:r>
          </a:p>
          <a:p>
            <a:r>
              <a:rPr lang="en-IN" sz="1800" dirty="0">
                <a:solidFill>
                  <a:schemeClr val="bg1"/>
                </a:solidFill>
              </a:rPr>
              <a:t>[11] Predicting Childbirth Modes: A Comparative Analysis of Machine Learning Algorithm Vizhiyarasi S , Mathews S, </a:t>
            </a:r>
            <a:r>
              <a:rPr lang="en-IN" sz="1800" dirty="0" err="1">
                <a:solidFill>
                  <a:schemeClr val="bg1"/>
                </a:solidFill>
              </a:rPr>
              <a:t>Meaga</a:t>
            </a:r>
            <a:r>
              <a:rPr lang="en-IN" sz="1800" dirty="0">
                <a:solidFill>
                  <a:schemeClr val="bg1"/>
                </a:solidFill>
              </a:rPr>
              <a:t> J, Nishani S, 2025.</a:t>
            </a:r>
          </a:p>
          <a:p>
            <a:r>
              <a:rPr lang="en-IN" sz="1800" dirty="0">
                <a:solidFill>
                  <a:schemeClr val="bg1"/>
                </a:solidFill>
              </a:rPr>
              <a:t> [12] Quantitative prediction of postpartum </a:t>
            </a:r>
            <a:r>
              <a:rPr lang="en-IN" sz="1800" dirty="0" err="1">
                <a:solidFill>
                  <a:schemeClr val="bg1"/>
                </a:solidFill>
              </a:rPr>
              <a:t>hemorrhage</a:t>
            </a:r>
            <a:r>
              <a:rPr lang="en-IN" sz="1800" dirty="0">
                <a:solidFill>
                  <a:schemeClr val="bg1"/>
                </a:solidFill>
              </a:rPr>
              <a:t> in </a:t>
            </a:r>
            <a:r>
              <a:rPr lang="en-IN" sz="1800" dirty="0" err="1">
                <a:solidFill>
                  <a:schemeClr val="bg1"/>
                </a:solidFill>
              </a:rPr>
              <a:t>cesarean</a:t>
            </a:r>
            <a:r>
              <a:rPr lang="en-IN" sz="1800" dirty="0">
                <a:solidFill>
                  <a:schemeClr val="bg1"/>
                </a:solidFill>
              </a:rPr>
              <a:t> section on machine learning Meng Wang, Gao Yi, </a:t>
            </a:r>
            <a:r>
              <a:rPr lang="en-IN" sz="1800" dirty="0" err="1">
                <a:solidFill>
                  <a:schemeClr val="bg1"/>
                </a:solidFill>
              </a:rPr>
              <a:t>Yunjia</a:t>
            </a:r>
            <a:r>
              <a:rPr lang="en-IN" sz="1800" dirty="0">
                <a:solidFill>
                  <a:schemeClr val="bg1"/>
                </a:solidFill>
              </a:rPr>
              <a:t> Zhang, Mei Li, Jin Zhang, 2024.</a:t>
            </a:r>
          </a:p>
          <a:p>
            <a:r>
              <a:rPr lang="en-IN" sz="1800" dirty="0">
                <a:solidFill>
                  <a:schemeClr val="bg1"/>
                </a:solidFill>
              </a:rPr>
              <a:t> [13] Development and External Validation of Machine Learning Models to Predict Caesarean Section Following Induction of Labor Using Real-World, Population-Based Administrative Datasets in Australia, Yanan Hu, Xin Zhang, Valerie Slavin, Joanne </a:t>
            </a:r>
            <a:r>
              <a:rPr lang="en-IN" sz="1800" dirty="0" err="1">
                <a:solidFill>
                  <a:schemeClr val="bg1"/>
                </a:solidFill>
              </a:rPr>
              <a:t>Enticott</a:t>
            </a:r>
            <a:r>
              <a:rPr lang="en-IN" sz="1800" dirty="0">
                <a:solidFill>
                  <a:schemeClr val="bg1"/>
                </a:solidFill>
              </a:rPr>
              <a:t>, Emily Callander, 2024.</a:t>
            </a:r>
          </a:p>
          <a:p>
            <a:r>
              <a:rPr lang="en-IN" sz="1800" dirty="0">
                <a:solidFill>
                  <a:schemeClr val="bg1"/>
                </a:solidFill>
              </a:rPr>
              <a:t> [14] Machine learning to predict pregnancy outcomes: a systematic review, synthesizing framework and future research agenda, Muhammad Nazrul Islam, Sumaiya Nuha Mustafina, Tahasin Mahmud, Nafiz Imtiaz Khan, 2022. </a:t>
            </a:r>
          </a:p>
          <a:p>
            <a:r>
              <a:rPr lang="en-IN" sz="1800" dirty="0">
                <a:solidFill>
                  <a:schemeClr val="bg1"/>
                </a:solidFill>
              </a:rPr>
              <a:t>[15] Predicting preterm birth using machine learning methods, Anna Kloska, Alicja </a:t>
            </a:r>
            <a:r>
              <a:rPr lang="en-IN" sz="1800" dirty="0" err="1">
                <a:solidFill>
                  <a:schemeClr val="bg1"/>
                </a:solidFill>
              </a:rPr>
              <a:t>Harmoza</a:t>
            </a:r>
            <a:r>
              <a:rPr lang="en-IN" sz="1800" dirty="0">
                <a:solidFill>
                  <a:schemeClr val="bg1"/>
                </a:solidFill>
              </a:rPr>
              <a:t>, Sylwester M. Kloska, Tomasz Marciniak, Iwona Sadowska </a:t>
            </a:r>
            <a:r>
              <a:rPr lang="en-IN" sz="1800" dirty="0" err="1">
                <a:solidFill>
                  <a:schemeClr val="bg1"/>
                </a:solidFill>
              </a:rPr>
              <a:t>Krawczenko</a:t>
            </a:r>
            <a:r>
              <a:rPr lang="en-IN" sz="1800" dirty="0">
                <a:solidFill>
                  <a:schemeClr val="bg1"/>
                </a:solidFill>
              </a:rPr>
              <a:t>, 2025</a:t>
            </a:r>
          </a:p>
        </p:txBody>
      </p:sp>
    </p:spTree>
    <p:extLst>
      <p:ext uri="{BB962C8B-B14F-4D97-AF65-F5344CB8AC3E}">
        <p14:creationId xmlns:p14="http://schemas.microsoft.com/office/powerpoint/2010/main" val="1167268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40FE4-2E0F-247E-BDAC-965EE338F13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3E82FE7-DC14-8BAD-DA61-8E22E08F093E}"/>
              </a:ext>
            </a:extLst>
          </p:cNvPr>
          <p:cNvSpPr txBox="1"/>
          <p:nvPr/>
        </p:nvSpPr>
        <p:spPr>
          <a:xfrm>
            <a:off x="1425676" y="874455"/>
            <a:ext cx="9497963" cy="3231654"/>
          </a:xfrm>
          <a:prstGeom prst="rect">
            <a:avLst/>
          </a:prstGeom>
          <a:noFill/>
        </p:spPr>
        <p:txBody>
          <a:bodyPr wrap="square">
            <a:spAutoFit/>
          </a:bodyPr>
          <a:lstStyle/>
          <a:p>
            <a:endParaRPr lang="en-US" sz="3600" b="1" dirty="0">
              <a:solidFill>
                <a:srgbClr val="FFFF00"/>
              </a:solidFill>
            </a:endParaRPr>
          </a:p>
          <a:p>
            <a:pPr>
              <a:buNone/>
            </a:pPr>
            <a:endParaRPr lang="en-US" sz="3600" b="1" dirty="0">
              <a:solidFill>
                <a:srgbClr val="FFFF00"/>
              </a:solidFill>
            </a:endParaRPr>
          </a:p>
          <a:p>
            <a:pPr>
              <a:buNone/>
            </a:pPr>
            <a:endParaRPr lang="en-US" sz="3600" b="1" dirty="0">
              <a:solidFill>
                <a:srgbClr val="FFFF00"/>
              </a:solidFill>
            </a:endParaRPr>
          </a:p>
          <a:p>
            <a:pPr algn="ctr"/>
            <a:r>
              <a:rPr lang="en-US" sz="7200" dirty="0">
                <a:solidFill>
                  <a:schemeClr val="bg1"/>
                </a:solidFill>
              </a:rPr>
              <a:t>THANK YOU</a:t>
            </a:r>
          </a:p>
          <a:p>
            <a:pPr>
              <a:buFont typeface="Arial" panose="020B0604020202020204" pitchFamily="34" charset="0"/>
              <a:buChar char="•"/>
            </a:pPr>
            <a:endParaRPr lang="en-US" sz="2400" dirty="0">
              <a:solidFill>
                <a:schemeClr val="bg1"/>
              </a:solidFill>
            </a:endParaRPr>
          </a:p>
        </p:txBody>
      </p:sp>
      <p:sp>
        <p:nvSpPr>
          <p:cNvPr id="2" name="Google Shape;38;p3">
            <a:extLst>
              <a:ext uri="{FF2B5EF4-FFF2-40B4-BE49-F238E27FC236}">
                <a16:creationId xmlns:a16="http://schemas.microsoft.com/office/drawing/2014/main" id="{51BCB0BA-05C5-8067-9AC8-517C7270ACE5}"/>
              </a:ext>
            </a:extLst>
          </p:cNvPr>
          <p:cNvSpPr txBox="1"/>
          <p:nvPr/>
        </p:nvSpPr>
        <p:spPr>
          <a:xfrm>
            <a:off x="2339181" y="6411984"/>
            <a:ext cx="751363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DE585"/>
              </a:buClr>
              <a:buSzPts val="1800"/>
              <a:buFont typeface="Arial"/>
              <a:buNone/>
            </a:pPr>
            <a:r>
              <a:rPr lang="en-US" sz="1800" b="1" i="0" u="none" strike="noStrike" cap="none" dirty="0">
                <a:solidFill>
                  <a:schemeClr val="tx1"/>
                </a:solidFill>
                <a:latin typeface="Arial"/>
                <a:ea typeface="Arial"/>
                <a:cs typeface="Arial"/>
                <a:sym typeface="Arial"/>
              </a:rPr>
              <a:t>Department</a:t>
            </a:r>
            <a:r>
              <a:rPr lang="en-US" sz="1800" b="1" i="0" u="none" strike="noStrike" cap="none" dirty="0">
                <a:solidFill>
                  <a:srgbClr val="CDE585"/>
                </a:solidFill>
                <a:latin typeface="Arial"/>
                <a:ea typeface="Arial"/>
                <a:cs typeface="Arial"/>
                <a:sym typeface="Arial"/>
              </a:rPr>
              <a:t> </a:t>
            </a:r>
            <a:r>
              <a:rPr lang="en-US" sz="1800" b="1" i="0" u="none" strike="noStrike" cap="none" dirty="0">
                <a:solidFill>
                  <a:schemeClr val="tx1"/>
                </a:solidFill>
                <a:latin typeface="Arial"/>
                <a:ea typeface="Arial"/>
                <a:cs typeface="Arial"/>
                <a:sym typeface="Arial"/>
              </a:rPr>
              <a:t>of Computer Science &amp; Engineering, HKBKCE-VTU</a:t>
            </a:r>
            <a:endParaRPr sz="1400" b="1" i="0" u="none" strike="noStrike" cap="none" dirty="0">
              <a:solidFill>
                <a:schemeClr val="tx1"/>
              </a:solidFill>
              <a:latin typeface="Arial"/>
              <a:ea typeface="Arial"/>
              <a:cs typeface="Arial"/>
              <a:sym typeface="Arial"/>
            </a:endParaRPr>
          </a:p>
        </p:txBody>
      </p:sp>
      <p:sp>
        <p:nvSpPr>
          <p:cNvPr id="4" name="Slide Number Placeholder 3">
            <a:extLst>
              <a:ext uri="{FF2B5EF4-FFF2-40B4-BE49-F238E27FC236}">
                <a16:creationId xmlns:a16="http://schemas.microsoft.com/office/drawing/2014/main" id="{0F759298-95F7-37E7-926C-E847DFAC56F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24</a:t>
            </a:fld>
            <a:endParaRPr lang="en-US"/>
          </a:p>
        </p:txBody>
      </p:sp>
      <p:pic>
        <p:nvPicPr>
          <p:cNvPr id="6" name="Picture 2" descr="Major Changes In VTU's Schemes - Careerindia">
            <a:extLst>
              <a:ext uri="{FF2B5EF4-FFF2-40B4-BE49-F238E27FC236}">
                <a16:creationId xmlns:a16="http://schemas.microsoft.com/office/drawing/2014/main" id="{8B5D1C6D-6FFC-49E6-290B-34C30263A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472" y="-83049"/>
            <a:ext cx="1208528" cy="123176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HKBK COLLEGE OF ENGINEERING (HKBKCE) BANGALORE Reviews | Address ...">
            <a:extLst>
              <a:ext uri="{FF2B5EF4-FFF2-40B4-BE49-F238E27FC236}">
                <a16:creationId xmlns:a16="http://schemas.microsoft.com/office/drawing/2014/main" id="{A4F48284-41AA-24A6-6A89-47E3DB227F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8" y="18198"/>
            <a:ext cx="1208528" cy="1208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3687839"/>
      </p:ext>
    </p:extLst>
  </p:cSld>
  <p:clrMapOvr>
    <a:masterClrMapping/>
  </p:clrMapOvr>
</p:sld>
</file>

<file path=ppt/theme/theme1.xml><?xml version="1.0" encoding="utf-8"?>
<a:theme xmlns:a="http://schemas.openxmlformats.org/drawingml/2006/main" name="1_Ion Boardroom">
  <a:themeElements>
    <a:clrScheme name="Ion Boardroom">
      <a:dk1>
        <a:srgbClr val="000000"/>
      </a:dk1>
      <a:lt1>
        <a:srgbClr val="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5592</TotalTime>
  <Words>2109</Words>
  <Application>Microsoft Office PowerPoint</Application>
  <PresentationFormat>Widescreen</PresentationFormat>
  <Paragraphs>196</Paragraphs>
  <Slides>24</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Times New Roman</vt:lpstr>
      <vt:lpstr>Aptos</vt:lpstr>
      <vt:lpstr>Arial</vt:lpstr>
      <vt:lpstr>Noto Sans Symbols</vt:lpstr>
      <vt:lpstr>Century Gothic</vt:lpstr>
      <vt:lpstr>Calibri</vt:lpstr>
      <vt:lpstr>Wingdings</vt:lpstr>
      <vt:lpstr>Copperplate Gothic Bold</vt:lpstr>
      <vt:lpstr>1_Ion Boardroom</vt:lpstr>
      <vt:lpstr>ANALYTICAL PREDICTION  OF OBSTETRIC DELIVERY   METHODS USING MACHINE LEARNING ALGORITHMS.</vt:lpstr>
      <vt:lpstr>PowerPoint Presentation</vt:lpstr>
      <vt:lpstr>PowerPoint Presentation</vt:lpstr>
      <vt:lpstr>PowerPoint Presentation</vt:lpstr>
      <vt:lpstr>PowerPoint Presentation</vt:lpstr>
      <vt:lpstr>PowerPoint Presentation</vt:lpstr>
      <vt:lpstr>PowerPoint Presentation</vt:lpstr>
      <vt:lpstr>Snapshot of Dataset</vt:lpstr>
      <vt:lpstr>PowerPoint Presentation</vt:lpstr>
      <vt:lpstr>Literature Survey</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Demo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 ANALYTICAL PREDICTION  OF OBSTETRIC DELIVERY   METHODS USING MACHINELEARNING ALGORITHMS.</dc:title>
  <dc:creator>savitha rao</dc:creator>
  <cp:lastModifiedBy>Bala subramani</cp:lastModifiedBy>
  <cp:revision>52</cp:revision>
  <dcterms:modified xsi:type="dcterms:W3CDTF">2025-11-17T17:47:45Z</dcterms:modified>
</cp:coreProperties>
</file>